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4"/>
  </p:notesMasterIdLst>
  <p:sldIdLst>
    <p:sldId id="256" r:id="rId5"/>
    <p:sldId id="2146847054" r:id="rId6"/>
    <p:sldId id="262" r:id="rId7"/>
    <p:sldId id="263" r:id="rId8"/>
    <p:sldId id="265" r:id="rId9"/>
    <p:sldId id="2146847057" r:id="rId10"/>
    <p:sldId id="266" r:id="rId11"/>
    <p:sldId id="2146847058" r:id="rId12"/>
    <p:sldId id="267" r:id="rId13"/>
    <p:sldId id="2146847059" r:id="rId14"/>
    <p:sldId id="2146847060" r:id="rId15"/>
    <p:sldId id="2146847061" r:id="rId16"/>
    <p:sldId id="2146847062" r:id="rId17"/>
    <p:sldId id="2146847063" r:id="rId18"/>
    <p:sldId id="268" r:id="rId19"/>
    <p:sldId id="2146847055" r:id="rId20"/>
    <p:sldId id="269" r:id="rId21"/>
    <p:sldId id="2146847056"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EC2134-FE55-D600-31C0-C82AB450B7AA}" v="39" dt="2026-08-09T17:41:19.1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9/28/2026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9/28/2026</a:t>
            </a:fld>
            <a:endParaRPr lang="en-US"/>
          </a:p>
        </p:txBody>
      </p:sp>
      <p:sp>
        <p:nvSpPr>
          <p:cNvPr id="9" name="Footer Placeholder 8">
            <a:extLst>
              <a:ext uri="{FF2B5EF4-FFF2-40B4-BE49-F238E27FC236}">
                <a16:creationId xmlns=""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9/28/2026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9/28/2026</a:t>
            </a:fld>
            <a:endParaRPr lang="en-US"/>
          </a:p>
        </p:txBody>
      </p:sp>
      <p:sp>
        <p:nvSpPr>
          <p:cNvPr id="9" name="Footer Placeholder 8">
            <a:extLst>
              <a:ext uri="{FF2B5EF4-FFF2-40B4-BE49-F238E27FC236}">
                <a16:creationId xmlns=""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9/28/2026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9/28/2026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9/28/2026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9/28/2026</a:t>
            </a:fld>
            <a:endParaRPr lang="en-US"/>
          </a:p>
        </p:txBody>
      </p:sp>
      <p:sp>
        <p:nvSpPr>
          <p:cNvPr id="10" name="Footer Placeholder 9">
            <a:extLst>
              <a:ext uri="{FF2B5EF4-FFF2-40B4-BE49-F238E27FC236}">
                <a16:creationId xmlns=""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9/28/2026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9/28/2026</a:t>
            </a:fld>
            <a:endParaRPr lang="en-US"/>
          </a:p>
        </p:txBody>
      </p:sp>
      <p:sp>
        <p:nvSpPr>
          <p:cNvPr id="12" name="Footer Placeholder 11">
            <a:extLst>
              <a:ext uri="{FF2B5EF4-FFF2-40B4-BE49-F238E27FC236}">
                <a16:creationId xmlns=""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9/28/2026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streamlit.io/" TargetMode="External"/><Relationship Id="rId2" Type="http://schemas.openxmlformats.org/officeDocument/2006/relationships/hyperlink" Target="https://www.python.org/" TargetMode="External"/><Relationship Id="rId1" Type="http://schemas.openxmlformats.org/officeDocument/2006/relationships/slideLayout" Target="../slideLayouts/slideLayout2.xml"/><Relationship Id="rId6" Type="http://schemas.openxmlformats.org/officeDocument/2006/relationships/hyperlink" Target="https://www.notto.gov.in/" TargetMode="External"/><Relationship Id="rId5" Type="http://schemas.openxmlformats.org/officeDocument/2006/relationships/hyperlink" Target="https://www.who.int/" TargetMode="External"/><Relationship Id="rId4" Type="http://schemas.openxmlformats.org/officeDocument/2006/relationships/hyperlink" Target="https://www.sqlite.org/"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medimatchgit-im64hbmmpshfcrfxo9u3ws.streamlit.app/" TargetMode="External"/><Relationship Id="rId2" Type="http://schemas.openxmlformats.org/officeDocument/2006/relationships/hyperlink" Target="https://github.com/meetukhurana07-bot/MediMatch_.gi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A11E26-4C38-41A6-9857-11032CEECD80}"/>
              </a:ext>
            </a:extLst>
          </p:cNvPr>
          <p:cNvSpPr>
            <a:spLocks noGrp="1"/>
          </p:cNvSpPr>
          <p:nvPr>
            <p:ph type="ctrTitle"/>
          </p:nvPr>
        </p:nvSpPr>
        <p:spPr>
          <a:xfrm>
            <a:off x="1359108" y="1619096"/>
            <a:ext cx="9536690" cy="1180317"/>
          </a:xfrm>
        </p:spPr>
        <p:txBody>
          <a:bodyPr>
            <a:normAutofit/>
          </a:bodyPr>
          <a:lstStyle/>
          <a:p>
            <a:pPr algn="ctr"/>
            <a:r>
              <a:rPr lang="en-US" sz="3000" b="1" i="1" dirty="0" smtClean="0">
                <a:solidFill>
                  <a:schemeClr val="accent1"/>
                </a:solidFill>
                <a:latin typeface="Arial" panose="020B0604020202020204" pitchFamily="34" charset="0"/>
                <a:cs typeface="Arial" panose="020B0604020202020204" pitchFamily="34" charset="0"/>
              </a:rPr>
              <a:t>Medimatch: </a:t>
            </a:r>
            <a:r>
              <a:rPr lang="en-US" sz="3000" b="1" i="1" dirty="0">
                <a:solidFill>
                  <a:schemeClr val="accent1"/>
                </a:solidFill>
                <a:latin typeface="Arial" panose="020B0604020202020204" pitchFamily="34" charset="0"/>
                <a:cs typeface="Arial" panose="020B0604020202020204" pitchFamily="34" charset="0"/>
              </a:rPr>
              <a:t>AI-Assisted </a:t>
            </a:r>
            <a:r>
              <a:rPr lang="en-US" sz="3000" b="1" i="1" dirty="0" smtClean="0">
                <a:solidFill>
                  <a:schemeClr val="accent1"/>
                </a:solidFill>
                <a:latin typeface="Arial" panose="020B0604020202020204" pitchFamily="34" charset="0"/>
                <a:cs typeface="Arial" panose="020B0604020202020204" pitchFamily="34" charset="0"/>
              </a:rPr>
              <a:t>Donor-Recipient </a:t>
            </a:r>
            <a:r>
              <a:rPr lang="en-US" sz="3000" b="1" i="1" dirty="0">
                <a:solidFill>
                  <a:schemeClr val="accent1"/>
                </a:solidFill>
                <a:latin typeface="Arial" panose="020B0604020202020204" pitchFamily="34" charset="0"/>
                <a:cs typeface="Arial" panose="020B0604020202020204" pitchFamily="34" charset="0"/>
              </a:rPr>
              <a:t>Compatibility and Matching Portal</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1173226" y="3556461"/>
            <a:ext cx="9443439" cy="2554545"/>
          </a:xfrm>
          <a:prstGeom prst="rect">
            <a:avLst/>
          </a:prstGeom>
          <a:noFill/>
        </p:spPr>
        <p:txBody>
          <a:bodyPr wrap="square" lIns="91440" tIns="45720" rIns="91440" bIns="45720" rtlCol="0" anchor="t">
            <a:spAutoFit/>
          </a:bodyPr>
          <a:lstStyle/>
          <a:p>
            <a:r>
              <a:rPr lang="en-US" sz="2000" b="1" u="sng" dirty="0" smtClean="0">
                <a:solidFill>
                  <a:schemeClr val="bg1"/>
                </a:solidFill>
                <a:latin typeface="Arial" pitchFamily="34" charset="0"/>
                <a:cs typeface="Arial" pitchFamily="34" charset="0"/>
              </a:rPr>
              <a:t>PRESENTED BY</a:t>
            </a:r>
            <a:r>
              <a:rPr lang="en-US" sz="2000" b="1" dirty="0" smtClean="0">
                <a:solidFill>
                  <a:schemeClr val="bg1"/>
                </a:solidFill>
                <a:latin typeface="Arial" pitchFamily="34" charset="0"/>
                <a:cs typeface="Arial" pitchFamily="34" charset="0"/>
              </a:rPr>
              <a:t> :</a:t>
            </a:r>
          </a:p>
          <a:p>
            <a:endParaRPr lang="en-US" sz="2000" b="1" dirty="0">
              <a:solidFill>
                <a:schemeClr val="bg1"/>
              </a:solidFill>
              <a:latin typeface="Arial" pitchFamily="34" charset="0"/>
              <a:cs typeface="Arial" pitchFamily="34" charset="0"/>
            </a:endParaRPr>
          </a:p>
          <a:p>
            <a:pPr marL="457200" indent="-457200">
              <a:lnSpc>
                <a:spcPct val="150000"/>
              </a:lnSpc>
              <a:buAutoNum type="arabicPeriod"/>
            </a:pPr>
            <a:r>
              <a:rPr lang="en-US" sz="2000" b="1" dirty="0">
                <a:solidFill>
                  <a:schemeClr val="bg1"/>
                </a:solidFill>
                <a:latin typeface="Arial"/>
                <a:cs typeface="Arial"/>
              </a:rPr>
              <a:t>Student </a:t>
            </a:r>
            <a:r>
              <a:rPr lang="en-US" sz="2000" b="1" dirty="0" smtClean="0">
                <a:solidFill>
                  <a:schemeClr val="bg1"/>
                </a:solidFill>
                <a:latin typeface="Arial"/>
                <a:cs typeface="Arial"/>
              </a:rPr>
              <a:t>Name - Manmeet Kaur</a:t>
            </a:r>
            <a:endParaRPr lang="en-US" sz="2000" b="1" dirty="0">
              <a:solidFill>
                <a:schemeClr val="bg1"/>
              </a:solidFill>
              <a:latin typeface="Arial"/>
              <a:cs typeface="Arial"/>
            </a:endParaRPr>
          </a:p>
          <a:p>
            <a:pPr marL="457200" indent="-457200">
              <a:lnSpc>
                <a:spcPct val="150000"/>
              </a:lnSpc>
              <a:buAutoNum type="arabicPeriod"/>
            </a:pPr>
            <a:r>
              <a:rPr lang="en-US" sz="2000" b="1" dirty="0">
                <a:solidFill>
                  <a:schemeClr val="bg1"/>
                </a:solidFill>
                <a:latin typeface="Arial"/>
                <a:cs typeface="Arial"/>
              </a:rPr>
              <a:t>College </a:t>
            </a:r>
            <a:r>
              <a:rPr lang="en-US" sz="2000" b="1" dirty="0" smtClean="0">
                <a:solidFill>
                  <a:schemeClr val="bg1"/>
                </a:solidFill>
                <a:latin typeface="Arial"/>
                <a:cs typeface="Arial"/>
              </a:rPr>
              <a:t>Name – </a:t>
            </a:r>
            <a:r>
              <a:rPr lang="en-US" sz="2000" b="1" dirty="0" smtClean="0">
                <a:solidFill>
                  <a:schemeClr val="bg1"/>
                </a:solidFill>
                <a:latin typeface="Arial"/>
                <a:cs typeface="Arial"/>
              </a:rPr>
              <a:t>Sri Guru Nanak Dev </a:t>
            </a:r>
            <a:r>
              <a:rPr lang="en-US" sz="2000" b="1" dirty="0" smtClean="0">
                <a:solidFill>
                  <a:schemeClr val="bg1"/>
                </a:solidFill>
                <a:latin typeface="Arial"/>
                <a:cs typeface="Arial"/>
              </a:rPr>
              <a:t>Khalsa College, University of Delhi</a:t>
            </a:r>
            <a:endParaRPr lang="en-US" sz="2000" b="1" dirty="0">
              <a:solidFill>
                <a:schemeClr val="bg1"/>
              </a:solidFill>
              <a:latin typeface="Arial"/>
              <a:cs typeface="Arial"/>
            </a:endParaRPr>
          </a:p>
          <a:p>
            <a:pPr marL="457200" indent="-457200">
              <a:lnSpc>
                <a:spcPct val="150000"/>
              </a:lnSpc>
              <a:buAutoNum type="arabicPeriod"/>
            </a:pPr>
            <a:r>
              <a:rPr lang="en-US" sz="2000" b="1" dirty="0">
                <a:solidFill>
                  <a:schemeClr val="bg1"/>
                </a:solidFill>
                <a:latin typeface="Arial"/>
                <a:cs typeface="Arial"/>
              </a:rPr>
              <a:t>Department </a:t>
            </a:r>
            <a:r>
              <a:rPr lang="en-US" sz="2000" b="1" dirty="0" smtClean="0">
                <a:solidFill>
                  <a:schemeClr val="bg1"/>
                </a:solidFill>
                <a:latin typeface="Arial"/>
                <a:cs typeface="Arial"/>
              </a:rPr>
              <a:t>– B.Sc. Mathematics</a:t>
            </a:r>
            <a:endParaRPr lang="en-US" sz="2000" b="1" dirty="0">
              <a:solidFill>
                <a:schemeClr val="bg1"/>
              </a:solidFill>
              <a:latin typeface="Arial"/>
              <a:cs typeface="Arial"/>
            </a:endParaRPr>
          </a:p>
          <a:p>
            <a:pPr>
              <a:lnSpc>
                <a:spcPct val="150000"/>
              </a:lnSpc>
            </a:pPr>
            <a:r>
              <a:rPr lang="en-US" sz="2000" b="1" dirty="0">
                <a:solidFill>
                  <a:schemeClr val="bg1"/>
                </a:solidFill>
                <a:latin typeface="Arial"/>
                <a:cs typeface="Arial"/>
              </a:rPr>
              <a:t>4.   AICTE </a:t>
            </a:r>
            <a:r>
              <a:rPr lang="en-US" sz="2000" b="1" dirty="0" smtClean="0">
                <a:solidFill>
                  <a:schemeClr val="bg1"/>
                </a:solidFill>
                <a:latin typeface="Arial"/>
                <a:cs typeface="Arial"/>
              </a:rPr>
              <a:t>ID - </a:t>
            </a:r>
            <a:r>
              <a:rPr lang="en-IN" sz="2000" b="1" dirty="0">
                <a:solidFill>
                  <a:schemeClr val="bg1"/>
                </a:solidFill>
                <a:latin typeface="Arial" panose="020B0604020202020204" pitchFamily="34" charset="0"/>
                <a:cs typeface="Arial" panose="020B0604020202020204" pitchFamily="34" charset="0"/>
              </a:rPr>
              <a:t>STU6a68f444c37e21785263172</a:t>
            </a:r>
            <a:endParaRPr lang="en-US" sz="2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33255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FFEB4C-F209-4AE7-AA2B-B3C26CE2C51D}"/>
              </a:ext>
            </a:extLst>
          </p:cNvPr>
          <p:cNvSpPr>
            <a:spLocks noGrp="1"/>
          </p:cNvSpPr>
          <p:nvPr>
            <p:ph type="title"/>
          </p:nvPr>
        </p:nvSpPr>
        <p:spPr>
          <a:xfrm>
            <a:off x="570441" y="0"/>
            <a:ext cx="10515600" cy="1325563"/>
          </a:xfrm>
        </p:spPr>
        <p:txBody>
          <a:bodyPr>
            <a:normAutofit/>
          </a:bodyPr>
          <a:lstStyle/>
          <a:p>
            <a:r>
              <a:rPr lang="en-US" sz="4000" b="1" dirty="0">
                <a:solidFill>
                  <a:schemeClr val="accent1"/>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 xmlns:a16="http://schemas.microsoft.com/office/drawing/2014/main" id="{B2678641-EEA3-4EC4-BF39-4075B0C120E8}"/>
              </a:ext>
            </a:extLst>
          </p:cNvPr>
          <p:cNvSpPr>
            <a:spLocks noGrp="1"/>
          </p:cNvSpPr>
          <p:nvPr>
            <p:ph idx="1"/>
          </p:nvPr>
        </p:nvSpPr>
        <p:spPr>
          <a:xfrm>
            <a:off x="570441" y="974045"/>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dirty="0">
                <a:latin typeface="Arial"/>
                <a:ea typeface="+mn-lt"/>
                <a:cs typeface="Arial"/>
              </a:rPr>
              <a:t>Problem Statement </a:t>
            </a:r>
            <a:endParaRPr lang="en-US" dirty="0">
              <a:latin typeface="Arial"/>
              <a:cs typeface="Arial"/>
            </a:endParaRPr>
          </a:p>
          <a:p>
            <a:r>
              <a:rPr lang="en-US" sz="2000" dirty="0">
                <a:latin typeface="Arial"/>
                <a:ea typeface="+mn-lt"/>
                <a:cs typeface="Arial"/>
              </a:rPr>
              <a:t>Proposed System/Solution</a:t>
            </a:r>
            <a:endParaRPr lang="en-US" dirty="0">
              <a:latin typeface="Arial"/>
              <a:cs typeface="Arial"/>
            </a:endParaRPr>
          </a:p>
          <a:p>
            <a:r>
              <a:rPr lang="en-US" sz="2000" dirty="0">
                <a:latin typeface="Arial"/>
                <a:ea typeface="+mn-lt"/>
                <a:cs typeface="Calibri"/>
              </a:rPr>
              <a:t>System </a:t>
            </a:r>
            <a:r>
              <a:rPr lang="en-US" sz="2000" dirty="0">
                <a:latin typeface="Arial"/>
                <a:ea typeface="+mn-lt"/>
                <a:cs typeface="+mn-lt"/>
              </a:rPr>
              <a:t>Development Approach  </a:t>
            </a:r>
            <a:endParaRPr lang="en-US" dirty="0">
              <a:latin typeface="Arial"/>
              <a:ea typeface="+mn-lt"/>
              <a:cs typeface="+mn-lt"/>
            </a:endParaRPr>
          </a:p>
          <a:p>
            <a:r>
              <a:rPr lang="en-US" sz="2000" dirty="0">
                <a:latin typeface="Arial"/>
                <a:ea typeface="+mn-lt"/>
                <a:cs typeface="+mn-lt"/>
              </a:rPr>
              <a:t>Algorithm &amp; Deployment  </a:t>
            </a:r>
            <a:endParaRPr lang="en-US" dirty="0">
              <a:latin typeface="Arial"/>
              <a:cs typeface="Calibri"/>
            </a:endParaRPr>
          </a:p>
          <a:p>
            <a:r>
              <a:rPr lang="en-US" sz="2000" dirty="0">
                <a:latin typeface="Arial"/>
                <a:ea typeface="+mn-lt"/>
                <a:cs typeface="Arial"/>
              </a:rPr>
              <a:t>Result</a:t>
            </a:r>
          </a:p>
          <a:p>
            <a:r>
              <a:rPr lang="en-US" sz="2000" dirty="0">
                <a:latin typeface="Arial"/>
                <a:ea typeface="+mn-lt"/>
                <a:cs typeface="Arial"/>
              </a:rPr>
              <a:t>Conclusion</a:t>
            </a:r>
            <a:endParaRPr lang="en-US" dirty="0">
              <a:latin typeface="Arial"/>
              <a:cs typeface="Arial"/>
            </a:endParaRPr>
          </a:p>
          <a:p>
            <a:r>
              <a:rPr lang="en-US" sz="2000" dirty="0">
                <a:latin typeface="Arial"/>
                <a:ea typeface="+mn-lt"/>
                <a:cs typeface="Arial"/>
              </a:rPr>
              <a:t>Future Scope</a:t>
            </a:r>
          </a:p>
          <a:p>
            <a:r>
              <a:rPr lang="en-US" sz="2000"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798409"/>
            <a:ext cx="11029616" cy="530296"/>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 xmlns:a16="http://schemas.microsoft.com/office/drawing/2014/main" id="{8FEE4A9C-3F57-7DA7-91FD-715C3FB47F93}"/>
              </a:ext>
            </a:extLst>
          </p:cNvPr>
          <p:cNvSpPr>
            <a:spLocks noGrp="1"/>
          </p:cNvSpPr>
          <p:nvPr>
            <p:ph idx="1"/>
          </p:nvPr>
        </p:nvSpPr>
        <p:spPr>
          <a:xfrm>
            <a:off x="581193" y="1222826"/>
            <a:ext cx="11029615" cy="3543141"/>
          </a:xfrm>
        </p:spPr>
        <p:txBody>
          <a:bodyPr>
            <a:normAutofit/>
          </a:bodyPr>
          <a:lstStyle/>
          <a:p>
            <a:pPr marL="0" indent="0" algn="just">
              <a:buNone/>
            </a:pPr>
            <a:r>
              <a:rPr lang="en-US" sz="2000" dirty="0">
                <a:latin typeface="Arial" panose="020B0604020202020204" pitchFamily="34" charset="0"/>
                <a:cs typeface="Arial" panose="020B0604020202020204" pitchFamily="34" charset="0"/>
              </a:rPr>
              <a:t>Healthcare institutions frequently face challenges in connecting blood and organ donors with recipients during emergencies. Traditional donor search methods rely on manual records, personal contacts, hospital databases, and social media outreach, which often result in delays and missed opportunities. The absence of a centralized platform makes it difficult to identify compatible donors quickly based on blood group, organ type, availability, and location. In critical situations, these delays can significantly impact patient survival rates</a:t>
            </a:r>
            <a:r>
              <a:rPr lang="en-US" sz="2000" dirty="0" smtClean="0">
                <a:latin typeface="Arial" panose="020B0604020202020204" pitchFamily="34" charset="0"/>
                <a:cs typeface="Arial" panose="020B0604020202020204" pitchFamily="34" charset="0"/>
              </a:rPr>
              <a:t>.</a:t>
            </a:r>
          </a:p>
          <a:p>
            <a:pPr marL="0" indent="0" algn="just">
              <a:buNone/>
            </a:pPr>
            <a:r>
              <a:rPr lang="en-US" sz="2000" dirty="0" smtClean="0">
                <a:latin typeface="Arial" panose="020B0604020202020204" pitchFamily="34" charset="0"/>
                <a:cs typeface="Arial" panose="020B0604020202020204" pitchFamily="34" charset="0"/>
              </a:rPr>
              <a:t>Therefore</a:t>
            </a:r>
            <a:r>
              <a:rPr lang="en-US" sz="2000" dirty="0">
                <a:latin typeface="Arial" panose="020B0604020202020204" pitchFamily="34" charset="0"/>
                <a:cs typeface="Arial" panose="020B0604020202020204" pitchFamily="34" charset="0"/>
              </a:rPr>
              <a:t>, there is a need for an intelligent digital platform that can efficiently register donors and recipients, maintain donor records, and provide rapid donor-recipient matching to support timely medical intervention.</a:t>
            </a:r>
          </a:p>
        </p:txBody>
      </p:sp>
    </p:spTree>
    <p:extLst>
      <p:ext uri="{BB962C8B-B14F-4D97-AF65-F5344CB8AC3E}">
        <p14:creationId xmlns:p14="http://schemas.microsoft.com/office/powerpoint/2010/main" val="11864211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52316" y="788784"/>
            <a:ext cx="11029616" cy="530296"/>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 xmlns:a16="http://schemas.microsoft.com/office/drawing/2014/main" id="{E041FD9D-DF07-9C37-1E61-1D920E0EF1D4}"/>
              </a:ext>
            </a:extLst>
          </p:cNvPr>
          <p:cNvSpPr>
            <a:spLocks noGrp="1"/>
          </p:cNvSpPr>
          <p:nvPr>
            <p:ph idx="1"/>
          </p:nvPr>
        </p:nvSpPr>
        <p:spPr>
          <a:xfrm>
            <a:off x="552316" y="899927"/>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pPr marL="0" indent="0" algn="just">
              <a:lnSpc>
                <a:spcPct val="100000"/>
              </a:lnSpc>
              <a:spcAft>
                <a:spcPts val="0"/>
              </a:spcAft>
              <a:buNone/>
            </a:pPr>
            <a:endParaRPr lang="en-US" sz="2000" b="1" dirty="0" smtClean="0">
              <a:latin typeface="Arial" panose="020B0604020202020204" pitchFamily="34" charset="0"/>
              <a:cs typeface="Arial" panose="020B0604020202020204" pitchFamily="34" charset="0"/>
            </a:endParaRPr>
          </a:p>
          <a:p>
            <a:pPr marL="0" indent="0" algn="just">
              <a:lnSpc>
                <a:spcPct val="100000"/>
              </a:lnSpc>
              <a:spcAft>
                <a:spcPts val="0"/>
              </a:spcAft>
              <a:buNone/>
            </a:pPr>
            <a:r>
              <a:rPr lang="en-US" sz="2000" b="1" dirty="0" smtClean="0">
                <a:latin typeface="Arial" panose="020B0604020202020204" pitchFamily="34" charset="0"/>
                <a:cs typeface="Arial" panose="020B0604020202020204" pitchFamily="34" charset="0"/>
              </a:rPr>
              <a:t>MediMatch</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is a web-based Blood and Organ Donor–Recipient Matching System </a:t>
            </a:r>
            <a:r>
              <a:rPr lang="en-US" sz="2000" dirty="0" smtClean="0">
                <a:latin typeface="Arial" panose="020B0604020202020204" pitchFamily="34" charset="0"/>
                <a:cs typeface="Arial" panose="020B0604020202020204" pitchFamily="34" charset="0"/>
              </a:rPr>
              <a:t>designed</a:t>
            </a:r>
          </a:p>
          <a:p>
            <a:pPr marL="0" indent="0" algn="just">
              <a:lnSpc>
                <a:spcPct val="100000"/>
              </a:lnSpc>
              <a:spcAft>
                <a:spcPts val="0"/>
              </a:spcAft>
              <a:buNone/>
            </a:pPr>
            <a:r>
              <a:rPr lang="en-US" sz="2000" dirty="0" smtClean="0">
                <a:latin typeface="Arial" panose="020B0604020202020204" pitchFamily="34" charset="0"/>
                <a:cs typeface="Arial" panose="020B0604020202020204" pitchFamily="34" charset="0"/>
              </a:rPr>
              <a:t>to </a:t>
            </a:r>
            <a:r>
              <a:rPr lang="en-US" sz="2000" dirty="0">
                <a:latin typeface="Arial" panose="020B0604020202020204" pitchFamily="34" charset="0"/>
                <a:cs typeface="Arial" panose="020B0604020202020204" pitchFamily="34" charset="0"/>
              </a:rPr>
              <a:t>streamline the process of donor registration, recipient requests, and compatibility matching</a:t>
            </a:r>
            <a:r>
              <a:rPr lang="en-US" sz="2000" dirty="0" smtClean="0">
                <a:latin typeface="Arial" panose="020B0604020202020204" pitchFamily="34" charset="0"/>
                <a:cs typeface="Arial" panose="020B0604020202020204" pitchFamily="34" charset="0"/>
              </a:rPr>
              <a:t>.</a:t>
            </a:r>
          </a:p>
          <a:p>
            <a:pPr marL="0" indent="0" algn="just">
              <a:buNone/>
            </a:pP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system provides:</a:t>
            </a:r>
          </a:p>
          <a:p>
            <a:pPr algn="just">
              <a:lnSpc>
                <a:spcPct val="100000"/>
              </a:lnSpc>
              <a:spcAft>
                <a:spcPts val="0"/>
              </a:spcAft>
            </a:pPr>
            <a:r>
              <a:rPr lang="en-US" sz="2000" dirty="0">
                <a:latin typeface="Arial" panose="020B0604020202020204" pitchFamily="34" charset="0"/>
                <a:cs typeface="Arial" panose="020B0604020202020204" pitchFamily="34" charset="0"/>
              </a:rPr>
              <a:t>Donor registration and profile management. </a:t>
            </a:r>
          </a:p>
          <a:p>
            <a:pPr algn="just">
              <a:lnSpc>
                <a:spcPct val="100000"/>
              </a:lnSpc>
              <a:spcAft>
                <a:spcPts val="0"/>
              </a:spcAft>
            </a:pPr>
            <a:r>
              <a:rPr lang="en-US" sz="2000" dirty="0">
                <a:latin typeface="Arial" panose="020B0604020202020204" pitchFamily="34" charset="0"/>
                <a:cs typeface="Arial" panose="020B0604020202020204" pitchFamily="34" charset="0"/>
              </a:rPr>
              <a:t>Recipient request submission. </a:t>
            </a:r>
          </a:p>
          <a:p>
            <a:pPr algn="just">
              <a:lnSpc>
                <a:spcPct val="100000"/>
              </a:lnSpc>
              <a:spcAft>
                <a:spcPts val="0"/>
              </a:spcAft>
            </a:pPr>
            <a:r>
              <a:rPr lang="en-US" sz="2000" dirty="0">
                <a:latin typeface="Arial" panose="020B0604020202020204" pitchFamily="34" charset="0"/>
                <a:cs typeface="Arial" panose="020B0604020202020204" pitchFamily="34" charset="0"/>
              </a:rPr>
              <a:t>Automated donor-recipient matching based on compatibility criteria. </a:t>
            </a:r>
          </a:p>
          <a:p>
            <a:pPr algn="just">
              <a:lnSpc>
                <a:spcPct val="100000"/>
              </a:lnSpc>
              <a:spcAft>
                <a:spcPts val="0"/>
              </a:spcAft>
            </a:pPr>
            <a:r>
              <a:rPr lang="en-US" sz="2000" dirty="0">
                <a:latin typeface="Arial" panose="020B0604020202020204" pitchFamily="34" charset="0"/>
                <a:cs typeface="Arial" panose="020B0604020202020204" pitchFamily="34" charset="0"/>
              </a:rPr>
              <a:t>Real-time dashboard for managing records. </a:t>
            </a:r>
          </a:p>
          <a:p>
            <a:pPr algn="just">
              <a:lnSpc>
                <a:spcPct val="100000"/>
              </a:lnSpc>
              <a:spcAft>
                <a:spcPts val="0"/>
              </a:spcAft>
            </a:pPr>
            <a:r>
              <a:rPr lang="en-US" sz="2000" dirty="0">
                <a:latin typeface="Arial" panose="020B0604020202020204" pitchFamily="34" charset="0"/>
                <a:cs typeface="Arial" panose="020B0604020202020204" pitchFamily="34" charset="0"/>
              </a:rPr>
              <a:t>AI-powered assistance for donation-related information. </a:t>
            </a:r>
          </a:p>
          <a:p>
            <a:pPr algn="just">
              <a:lnSpc>
                <a:spcPct val="100000"/>
              </a:lnSpc>
              <a:spcAft>
                <a:spcPts val="0"/>
              </a:spcAft>
            </a:pPr>
            <a:r>
              <a:rPr lang="en-US" sz="2000" dirty="0">
                <a:latin typeface="Arial" panose="020B0604020202020204" pitchFamily="34" charset="0"/>
                <a:cs typeface="Arial" panose="020B0604020202020204" pitchFamily="34" charset="0"/>
              </a:rPr>
              <a:t>Centralized database for storing donor and recipient information. </a:t>
            </a:r>
          </a:p>
          <a:p>
            <a:pPr algn="just">
              <a:lnSpc>
                <a:spcPct val="100000"/>
              </a:lnSpc>
            </a:pPr>
            <a:r>
              <a:rPr lang="en-US" sz="2000" dirty="0">
                <a:latin typeface="Arial" panose="020B0604020202020204" pitchFamily="34" charset="0"/>
                <a:cs typeface="Arial" panose="020B0604020202020204" pitchFamily="34" charset="0"/>
              </a:rPr>
              <a:t>User-friendly interface accessible through any modern web browser. </a:t>
            </a:r>
          </a:p>
          <a:p>
            <a:pPr marL="0" indent="0" algn="just">
              <a:lnSpc>
                <a:spcPct val="100000"/>
              </a:lnSpc>
              <a:spcAft>
                <a:spcPts val="0"/>
              </a:spcAft>
              <a:buNone/>
            </a:pPr>
            <a:r>
              <a:rPr lang="en-US" sz="2000" dirty="0">
                <a:latin typeface="Arial" panose="020B0604020202020204" pitchFamily="34" charset="0"/>
                <a:cs typeface="Arial" panose="020B0604020202020204" pitchFamily="34" charset="0"/>
              </a:rPr>
              <a:t>The platform aims to </a:t>
            </a:r>
            <a:r>
              <a:rPr lang="en-US" sz="2000" b="1" dirty="0">
                <a:latin typeface="Arial" panose="020B0604020202020204" pitchFamily="34" charset="0"/>
                <a:cs typeface="Arial" panose="020B0604020202020204" pitchFamily="34" charset="0"/>
              </a:rPr>
              <a:t>reduce response time </a:t>
            </a:r>
            <a:r>
              <a:rPr lang="en-US" sz="2000" dirty="0">
                <a:latin typeface="Arial" panose="020B0604020202020204" pitchFamily="34" charset="0"/>
                <a:cs typeface="Arial" panose="020B0604020202020204" pitchFamily="34" charset="0"/>
              </a:rPr>
              <a:t>during medical emergencies and </a:t>
            </a:r>
            <a:r>
              <a:rPr lang="en-US" sz="2000" b="1" dirty="0" smtClean="0">
                <a:latin typeface="Arial" panose="020B0604020202020204" pitchFamily="34" charset="0"/>
                <a:cs typeface="Arial" panose="020B0604020202020204" pitchFamily="34" charset="0"/>
              </a:rPr>
              <a:t>improve</a:t>
            </a:r>
          </a:p>
          <a:p>
            <a:pPr marL="0" indent="0" algn="just">
              <a:lnSpc>
                <a:spcPct val="100000"/>
              </a:lnSpc>
              <a:spcAft>
                <a:spcPts val="0"/>
              </a:spcAft>
              <a:buNone/>
            </a:pPr>
            <a:r>
              <a:rPr lang="en-US" sz="2000" b="1" dirty="0" smtClean="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efficiency of donor allocation</a:t>
            </a:r>
            <a:r>
              <a:rPr lang="en-US" sz="2000" dirty="0">
                <a:latin typeface="Arial" panose="020B0604020202020204" pitchFamily="34" charset="0"/>
                <a:cs typeface="Arial" panose="020B0604020202020204" pitchFamily="34" charset="0"/>
              </a:rPr>
              <a:t>. Similar modern matching systems use compatibility</a:t>
            </a:r>
            <a:r>
              <a:rPr lang="en-US" sz="2000" dirty="0" smtClean="0">
                <a:latin typeface="Arial" panose="020B0604020202020204" pitchFamily="34" charset="0"/>
                <a:cs typeface="Arial" panose="020B0604020202020204" pitchFamily="34" charset="0"/>
              </a:rPr>
              <a:t>,</a:t>
            </a:r>
          </a:p>
          <a:p>
            <a:pPr marL="0" indent="0" algn="just">
              <a:lnSpc>
                <a:spcPct val="100000"/>
              </a:lnSpc>
              <a:spcAft>
                <a:spcPts val="0"/>
              </a:spcAft>
              <a:buNone/>
            </a:pPr>
            <a:r>
              <a:rPr lang="en-US" sz="2000" dirty="0" smtClean="0">
                <a:latin typeface="Arial" panose="020B0604020202020204" pitchFamily="34" charset="0"/>
                <a:cs typeface="Arial" panose="020B0604020202020204" pitchFamily="34" charset="0"/>
              </a:rPr>
              <a:t>availability</a:t>
            </a:r>
            <a:r>
              <a:rPr lang="en-US" sz="2000" dirty="0">
                <a:latin typeface="Arial" panose="020B0604020202020204" pitchFamily="34" charset="0"/>
                <a:cs typeface="Arial" panose="020B0604020202020204" pitchFamily="34" charset="0"/>
              </a:rPr>
              <a:t>, and location-based ranking to accelerate emergency response.</a:t>
            </a:r>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494565" y="771730"/>
            <a:ext cx="11029616" cy="530296"/>
          </a:xfrm>
        </p:spPr>
        <p:txBody>
          <a:bodyPr>
            <a:normAutofit fontScale="90000"/>
          </a:bodyPr>
          <a:lstStyle/>
          <a:p>
            <a:r>
              <a:rPr lang="en-US" sz="4400" b="1" dirty="0" smtClean="0">
                <a:solidFill>
                  <a:schemeClr val="accent1"/>
                </a:solidFill>
                <a:latin typeface="Arial"/>
                <a:ea typeface="+mj-lt"/>
                <a:cs typeface="Arial"/>
              </a:rPr>
              <a:t>System </a:t>
            </a:r>
            <a:r>
              <a:rPr lang="en-US" sz="4400" b="1" dirty="0">
                <a:solidFill>
                  <a:schemeClr val="accent1"/>
                </a:solidFill>
                <a:latin typeface="Arial"/>
                <a:ea typeface="+mj-lt"/>
                <a:cs typeface="Arial"/>
              </a:rPr>
              <a:t>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 xmlns:a16="http://schemas.microsoft.com/office/drawing/2014/main" id="{C4FFAF3C-BA60-9181-132C-C36C403AAEA7}"/>
              </a:ext>
            </a:extLst>
          </p:cNvPr>
          <p:cNvSpPr>
            <a:spLocks noGrp="1"/>
          </p:cNvSpPr>
          <p:nvPr>
            <p:ph idx="1"/>
          </p:nvPr>
        </p:nvSpPr>
        <p:spPr>
          <a:xfrm>
            <a:off x="494565" y="1142756"/>
            <a:ext cx="12124623" cy="6092790"/>
          </a:xfrm>
        </p:spPr>
        <p:txBody>
          <a:bodyPr>
            <a:normAutofit/>
          </a:bodyPr>
          <a:lstStyle/>
          <a:p>
            <a:pPr marL="0" indent="0">
              <a:spcBef>
                <a:spcPts val="0"/>
              </a:spcBef>
              <a:spcAft>
                <a:spcPts val="0"/>
              </a:spcAft>
              <a:buNone/>
            </a:pPr>
            <a:r>
              <a:rPr lang="en-IN" sz="2000" b="1" dirty="0">
                <a:latin typeface="Arial" panose="020B0604020202020204" pitchFamily="34" charset="0"/>
                <a:cs typeface="Arial" panose="020B0604020202020204" pitchFamily="34" charset="0"/>
              </a:rPr>
              <a:t>1</a:t>
            </a:r>
            <a:r>
              <a:rPr lang="en-IN" sz="1800" b="1"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System Requirements</a:t>
            </a:r>
          </a:p>
          <a:p>
            <a:pPr marL="0" indent="0">
              <a:spcBef>
                <a:spcPts val="480"/>
              </a:spcBef>
              <a:spcAft>
                <a:spcPts val="0"/>
              </a:spcAft>
              <a:buNone/>
            </a:pPr>
            <a:r>
              <a:rPr lang="en-IN" sz="1800" dirty="0">
                <a:latin typeface="Arial" panose="020B0604020202020204" pitchFamily="34" charset="0"/>
                <a:cs typeface="Arial" panose="020B0604020202020204" pitchFamily="34" charset="0"/>
              </a:rPr>
              <a:t>The development of the MediMatch system requires both hardware and software resources to ensure smooth operation and efficient donor-recipient matching.</a:t>
            </a:r>
          </a:p>
          <a:p>
            <a:pPr marL="0" indent="0">
              <a:lnSpc>
                <a:spcPct val="100000"/>
              </a:lnSpc>
              <a:spcBef>
                <a:spcPts val="480"/>
              </a:spcBef>
              <a:buNone/>
            </a:pPr>
            <a:r>
              <a:rPr lang="en-IN" sz="1900" b="1" dirty="0" smtClean="0">
                <a:solidFill>
                  <a:schemeClr val="accent1"/>
                </a:solidFill>
                <a:latin typeface="Arial" panose="020B0604020202020204" pitchFamily="34" charset="0"/>
                <a:cs typeface="Arial" panose="020B0604020202020204" pitchFamily="34" charset="0"/>
              </a:rPr>
              <a:t>Hardware Requirements </a:t>
            </a:r>
          </a:p>
          <a:p>
            <a:pPr>
              <a:lnSpc>
                <a:spcPct val="100000"/>
              </a:lnSpc>
              <a:spcBef>
                <a:spcPts val="0"/>
              </a:spcBef>
              <a:spcAft>
                <a:spcPts val="0"/>
              </a:spcAft>
              <a:buFont typeface="Wingdings" panose="05000000000000000000" pitchFamily="2" charset="2"/>
              <a:buChar char="§"/>
            </a:pPr>
            <a:r>
              <a:rPr lang="en-IN" sz="1800" dirty="0" smtClean="0">
                <a:latin typeface="Arial" panose="020B0604020202020204" pitchFamily="34" charset="0"/>
                <a:cs typeface="Arial" panose="020B0604020202020204" pitchFamily="34" charset="0"/>
              </a:rPr>
              <a:t>Processor</a:t>
            </a:r>
            <a:r>
              <a:rPr lang="en-IN" sz="1800" dirty="0">
                <a:latin typeface="Arial" panose="020B0604020202020204" pitchFamily="34" charset="0"/>
                <a:cs typeface="Arial" panose="020B0604020202020204" pitchFamily="34" charset="0"/>
              </a:rPr>
              <a:t>: Intel Core i3 or above </a:t>
            </a:r>
          </a:p>
          <a:p>
            <a:pPr>
              <a:lnSpc>
                <a:spcPct val="100000"/>
              </a:lnSpc>
              <a:spcBef>
                <a:spcPts val="430"/>
              </a:spcBef>
              <a:spcAft>
                <a:spcPts val="0"/>
              </a:spcAft>
              <a:buFont typeface="Wingdings" panose="05000000000000000000" pitchFamily="2" charset="2"/>
              <a:buChar char="§"/>
            </a:pPr>
            <a:r>
              <a:rPr lang="en-IN" sz="1800" dirty="0">
                <a:latin typeface="Arial" panose="020B0604020202020204" pitchFamily="34" charset="0"/>
                <a:cs typeface="Arial" panose="020B0604020202020204" pitchFamily="34" charset="0"/>
              </a:rPr>
              <a:t>RAM: Minimum 4 GB (8 GB recommended) </a:t>
            </a:r>
          </a:p>
          <a:p>
            <a:pPr>
              <a:lnSpc>
                <a:spcPct val="100000"/>
              </a:lnSpc>
              <a:spcBef>
                <a:spcPts val="430"/>
              </a:spcBef>
              <a:spcAft>
                <a:spcPts val="0"/>
              </a:spcAft>
              <a:buFont typeface="Wingdings" panose="05000000000000000000" pitchFamily="2" charset="2"/>
              <a:buChar char="§"/>
            </a:pPr>
            <a:r>
              <a:rPr lang="en-IN" sz="1800" dirty="0">
                <a:latin typeface="Arial" panose="020B0604020202020204" pitchFamily="34" charset="0"/>
                <a:cs typeface="Arial" panose="020B0604020202020204" pitchFamily="34" charset="0"/>
              </a:rPr>
              <a:t>Storage: Minimum 500 MB free space </a:t>
            </a:r>
          </a:p>
          <a:p>
            <a:pPr>
              <a:lnSpc>
                <a:spcPct val="100000"/>
              </a:lnSpc>
              <a:spcBef>
                <a:spcPts val="480"/>
              </a:spcBef>
              <a:spcAft>
                <a:spcPts val="0"/>
              </a:spcAft>
              <a:buFont typeface="Wingdings" panose="05000000000000000000" pitchFamily="2" charset="2"/>
              <a:buChar char="§"/>
            </a:pPr>
            <a:r>
              <a:rPr lang="en-IN" sz="1800" dirty="0">
                <a:latin typeface="Arial" panose="020B0604020202020204" pitchFamily="34" charset="0"/>
                <a:cs typeface="Arial" panose="020B0604020202020204" pitchFamily="34" charset="0"/>
              </a:rPr>
              <a:t>Internet Connection: Required for deployment and cloud access </a:t>
            </a:r>
          </a:p>
          <a:p>
            <a:pPr marL="0" indent="0">
              <a:lnSpc>
                <a:spcPct val="100000"/>
              </a:lnSpc>
              <a:spcBef>
                <a:spcPts val="480"/>
              </a:spcBef>
              <a:buNone/>
            </a:pPr>
            <a:r>
              <a:rPr lang="en-IN" sz="1900" b="1" dirty="0" smtClean="0">
                <a:solidFill>
                  <a:schemeClr val="accent1"/>
                </a:solidFill>
                <a:latin typeface="Arial" panose="020B0604020202020204" pitchFamily="34" charset="0"/>
                <a:cs typeface="Arial" panose="020B0604020202020204" pitchFamily="34" charset="0"/>
              </a:rPr>
              <a:t>Software </a:t>
            </a:r>
            <a:r>
              <a:rPr lang="en-IN" sz="1900" b="1" dirty="0">
                <a:solidFill>
                  <a:schemeClr val="accent1"/>
                </a:solidFill>
                <a:latin typeface="Arial" panose="020B0604020202020204" pitchFamily="34" charset="0"/>
                <a:cs typeface="Arial" panose="020B0604020202020204" pitchFamily="34" charset="0"/>
              </a:rPr>
              <a:t>Requirements</a:t>
            </a:r>
          </a:p>
          <a:p>
            <a:pPr>
              <a:lnSpc>
                <a:spcPct val="100000"/>
              </a:lnSpc>
              <a:spcBef>
                <a:spcPts val="0"/>
              </a:spcBef>
              <a:spcAft>
                <a:spcPts val="0"/>
              </a:spcAft>
              <a:buFont typeface="Wingdings" panose="05000000000000000000" pitchFamily="2" charset="2"/>
              <a:buChar char="§"/>
            </a:pPr>
            <a:r>
              <a:rPr lang="en-IN" sz="1800" dirty="0">
                <a:latin typeface="Arial" panose="020B0604020202020204" pitchFamily="34" charset="0"/>
                <a:cs typeface="Arial" panose="020B0604020202020204" pitchFamily="34" charset="0"/>
              </a:rPr>
              <a:t>Operating System: Windows 10/11, Linux, or macOS </a:t>
            </a:r>
            <a:r>
              <a:rPr lang="en-IN" sz="1800" dirty="0" smtClean="0">
                <a:latin typeface="Arial" panose="020B0604020202020204" pitchFamily="34" charset="0"/>
                <a:cs typeface="Arial" panose="020B0604020202020204" pitchFamily="34" charset="0"/>
              </a:rPr>
              <a:t>   </a:t>
            </a:r>
          </a:p>
          <a:p>
            <a:pPr>
              <a:lnSpc>
                <a:spcPct val="100000"/>
              </a:lnSpc>
              <a:spcBef>
                <a:spcPts val="0"/>
              </a:spcBef>
              <a:spcAft>
                <a:spcPts val="0"/>
              </a:spcAft>
              <a:buFont typeface="Wingdings" panose="05000000000000000000" pitchFamily="2" charset="2"/>
              <a:buChar char="§"/>
            </a:pPr>
            <a:r>
              <a:rPr lang="en-IN" sz="1800" dirty="0" smtClean="0">
                <a:latin typeface="Arial" panose="020B0604020202020204" pitchFamily="34" charset="0"/>
                <a:cs typeface="Arial" panose="020B0604020202020204" pitchFamily="34" charset="0"/>
              </a:rPr>
              <a:t>Programming </a:t>
            </a:r>
            <a:r>
              <a:rPr lang="en-IN" sz="1800" dirty="0">
                <a:latin typeface="Arial" panose="020B0604020202020204" pitchFamily="34" charset="0"/>
                <a:cs typeface="Arial" panose="020B0604020202020204" pitchFamily="34" charset="0"/>
              </a:rPr>
              <a:t>Language: Python 3.10</a:t>
            </a:r>
            <a:r>
              <a:rPr lang="en-IN" sz="1800" dirty="0" smtClean="0">
                <a:latin typeface="Arial" panose="020B0604020202020204" pitchFamily="34" charset="0"/>
                <a:cs typeface="Arial" panose="020B0604020202020204" pitchFamily="34" charset="0"/>
              </a:rPr>
              <a:t>+</a:t>
            </a:r>
            <a:endParaRPr lang="en-IN" sz="1800" dirty="0">
              <a:latin typeface="Arial" panose="020B0604020202020204" pitchFamily="34" charset="0"/>
              <a:cs typeface="Arial" panose="020B0604020202020204" pitchFamily="34" charset="0"/>
            </a:endParaRPr>
          </a:p>
          <a:p>
            <a:pPr>
              <a:lnSpc>
                <a:spcPct val="100000"/>
              </a:lnSpc>
              <a:spcBef>
                <a:spcPts val="430"/>
              </a:spcBef>
              <a:spcAft>
                <a:spcPts val="0"/>
              </a:spcAft>
              <a:buFont typeface="Wingdings" panose="05000000000000000000" pitchFamily="2" charset="2"/>
              <a:buChar char="§"/>
            </a:pPr>
            <a:r>
              <a:rPr lang="en-IN" sz="1800" dirty="0">
                <a:latin typeface="Arial" panose="020B0604020202020204" pitchFamily="34" charset="0"/>
                <a:cs typeface="Arial" panose="020B0604020202020204" pitchFamily="34" charset="0"/>
              </a:rPr>
              <a:t>Development Environment: VS Code / IBM Skills Network Lab / Jupyter Notebook </a:t>
            </a:r>
          </a:p>
          <a:p>
            <a:pPr>
              <a:lnSpc>
                <a:spcPct val="100000"/>
              </a:lnSpc>
              <a:spcBef>
                <a:spcPts val="430"/>
              </a:spcBef>
              <a:spcAft>
                <a:spcPts val="0"/>
              </a:spcAft>
              <a:buFont typeface="Wingdings" panose="05000000000000000000" pitchFamily="2" charset="2"/>
              <a:buChar char="§"/>
            </a:pPr>
            <a:r>
              <a:rPr lang="en-IN" sz="1800" dirty="0">
                <a:latin typeface="Arial" panose="020B0604020202020204" pitchFamily="34" charset="0"/>
                <a:cs typeface="Arial" panose="020B0604020202020204" pitchFamily="34" charset="0"/>
              </a:rPr>
              <a:t>Database: SQLite </a:t>
            </a:r>
          </a:p>
          <a:p>
            <a:pPr>
              <a:lnSpc>
                <a:spcPct val="100000"/>
              </a:lnSpc>
              <a:spcBef>
                <a:spcPts val="430"/>
              </a:spcBef>
              <a:spcAft>
                <a:spcPts val="0"/>
              </a:spcAft>
              <a:buFont typeface="Wingdings" panose="05000000000000000000" pitchFamily="2" charset="2"/>
              <a:buChar char="§"/>
            </a:pPr>
            <a:r>
              <a:rPr lang="en-IN" sz="1800" dirty="0">
                <a:latin typeface="Arial" panose="020B0604020202020204" pitchFamily="34" charset="0"/>
                <a:cs typeface="Arial" panose="020B0604020202020204" pitchFamily="34" charset="0"/>
              </a:rPr>
              <a:t>Version Control: Git and GitHub </a:t>
            </a:r>
          </a:p>
          <a:p>
            <a:pPr>
              <a:lnSpc>
                <a:spcPct val="100000"/>
              </a:lnSpc>
              <a:spcBef>
                <a:spcPts val="430"/>
              </a:spcBef>
              <a:spcAft>
                <a:spcPts val="0"/>
              </a:spcAft>
              <a:buFont typeface="Wingdings" panose="05000000000000000000" pitchFamily="2" charset="2"/>
              <a:buChar char="§"/>
            </a:pPr>
            <a:r>
              <a:rPr lang="en-IN" sz="1800" dirty="0">
                <a:latin typeface="Arial" panose="020B0604020202020204" pitchFamily="34" charset="0"/>
                <a:cs typeface="Arial" panose="020B0604020202020204" pitchFamily="34" charset="0"/>
              </a:rPr>
              <a:t>Deployment Platform: Streamlit Community Cloud </a:t>
            </a:r>
          </a:p>
          <a:p>
            <a:pPr>
              <a:lnSpc>
                <a:spcPct val="100000"/>
              </a:lnSpc>
              <a:spcBef>
                <a:spcPts val="430"/>
              </a:spcBef>
              <a:spcAft>
                <a:spcPts val="0"/>
              </a:spcAft>
              <a:buFont typeface="Wingdings" panose="05000000000000000000" pitchFamily="2" charset="2"/>
              <a:buChar char="§"/>
            </a:pPr>
            <a:r>
              <a:rPr lang="en-IN" sz="1800" dirty="0">
                <a:latin typeface="Arial" panose="020B0604020202020204" pitchFamily="34" charset="0"/>
                <a:cs typeface="Arial" panose="020B0604020202020204" pitchFamily="34" charset="0"/>
              </a:rPr>
              <a:t>Web Browser: Google Chrome, Microsoft Edge, Firefox</a:t>
            </a:r>
          </a:p>
          <a:p>
            <a:pPr marL="0" indent="0">
              <a:spcBef>
                <a:spcPts val="430"/>
              </a:spcBef>
              <a:buNone/>
            </a:pPr>
            <a:endParaRPr lang="en-IN" sz="2000"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0888" y="664143"/>
            <a:ext cx="8412480" cy="707886"/>
          </a:xfrm>
          <a:prstGeom prst="rect">
            <a:avLst/>
          </a:prstGeom>
          <a:noFill/>
        </p:spPr>
        <p:txBody>
          <a:bodyPr wrap="square" rtlCol="0">
            <a:spAutoFit/>
          </a:bodyPr>
          <a:lstStyle/>
          <a:p>
            <a:r>
              <a:rPr lang="en-US" sz="4000" b="1" dirty="0" smtClean="0">
                <a:solidFill>
                  <a:schemeClr val="accent1"/>
                </a:solidFill>
                <a:latin typeface="Arial"/>
                <a:ea typeface="+mj-lt"/>
                <a:cs typeface="Arial"/>
              </a:rPr>
              <a:t>SYSTEM APPROACH</a:t>
            </a:r>
            <a:endParaRPr lang="en-IN" sz="4000" dirty="0"/>
          </a:p>
        </p:txBody>
      </p:sp>
      <p:sp>
        <p:nvSpPr>
          <p:cNvPr id="3" name="TextBox 2"/>
          <p:cNvSpPr txBox="1"/>
          <p:nvPr/>
        </p:nvSpPr>
        <p:spPr>
          <a:xfrm>
            <a:off x="490888" y="1387418"/>
            <a:ext cx="11011301" cy="677108"/>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2. Libraries Required to Build the </a:t>
            </a:r>
            <a:r>
              <a:rPr lang="en-US" sz="2000" b="1" dirty="0" smtClean="0">
                <a:latin typeface="Arial" panose="020B0604020202020204" pitchFamily="34" charset="0"/>
                <a:cs typeface="Arial" panose="020B0604020202020204" pitchFamily="34" charset="0"/>
              </a:rPr>
              <a:t>Model</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897842535"/>
              </p:ext>
            </p:extLst>
          </p:nvPr>
        </p:nvGraphicFramePr>
        <p:xfrm>
          <a:off x="577515" y="1964412"/>
          <a:ext cx="9769643" cy="4631725"/>
        </p:xfrm>
        <a:graphic>
          <a:graphicData uri="http://schemas.openxmlformats.org/drawingml/2006/table">
            <a:tbl>
              <a:tblPr/>
              <a:tblGrid>
                <a:gridCol w="3359217"/>
                <a:gridCol w="6410426"/>
              </a:tblGrid>
              <a:tr h="358713">
                <a:tc>
                  <a:txBody>
                    <a:bodyPr/>
                    <a:lstStyle/>
                    <a:p>
                      <a:pPr algn="ctr"/>
                      <a:r>
                        <a:rPr lang="en-IN" sz="1800" b="1" dirty="0">
                          <a:latin typeface="Arial" panose="020B0604020202020204" pitchFamily="34" charset="0"/>
                          <a:cs typeface="Arial" panose="020B0604020202020204" pitchFamily="34" charset="0"/>
                        </a:rPr>
                        <a:t>Library</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1" dirty="0">
                          <a:latin typeface="Arial" panose="020B0604020202020204" pitchFamily="34" charset="0"/>
                          <a:cs typeface="Arial" panose="020B0604020202020204" pitchFamily="34" charset="0"/>
                        </a:rPr>
                        <a:t>Purpose</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713">
                <a:tc>
                  <a:txBody>
                    <a:bodyPr/>
                    <a:lstStyle/>
                    <a:p>
                      <a:pPr algn="ctr"/>
                      <a:r>
                        <a:rPr lang="en-IN" sz="1800" b="0" dirty="0">
                          <a:latin typeface="Arial" panose="020B0604020202020204" pitchFamily="34" charset="0"/>
                          <a:cs typeface="Arial" panose="020B0604020202020204" pitchFamily="34" charset="0"/>
                        </a:rPr>
                        <a:t>Streamlit</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Arial" panose="020B0604020202020204" pitchFamily="34" charset="0"/>
                          <a:cs typeface="Arial" panose="020B0604020202020204" pitchFamily="34" charset="0"/>
                        </a:rPr>
                        <a:t>Creating the web-based user interface</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713">
                <a:tc>
                  <a:txBody>
                    <a:bodyPr/>
                    <a:lstStyle/>
                    <a:p>
                      <a:pPr algn="ctr"/>
                      <a:r>
                        <a:rPr lang="en-IN" sz="1800" b="0" dirty="0">
                          <a:latin typeface="Arial" panose="020B0604020202020204" pitchFamily="34" charset="0"/>
                          <a:cs typeface="Arial" panose="020B0604020202020204" pitchFamily="34" charset="0"/>
                        </a:rPr>
                        <a:t>SQLite3</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latin typeface="Arial" panose="020B0604020202020204" pitchFamily="34" charset="0"/>
                          <a:cs typeface="Arial" panose="020B0604020202020204" pitchFamily="34" charset="0"/>
                        </a:rPr>
                        <a:t>Database creation and management</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713">
                <a:tc>
                  <a:txBody>
                    <a:bodyPr/>
                    <a:lstStyle/>
                    <a:p>
                      <a:pPr algn="ctr"/>
                      <a:r>
                        <a:rPr lang="en-IN" sz="1800" b="0" dirty="0">
                          <a:latin typeface="Arial" panose="020B0604020202020204" pitchFamily="34" charset="0"/>
                          <a:cs typeface="Arial" panose="020B0604020202020204" pitchFamily="34" charset="0"/>
                        </a:rPr>
                        <a:t>Pandas</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Arial" panose="020B0604020202020204" pitchFamily="34" charset="0"/>
                          <a:cs typeface="Arial" panose="020B0604020202020204" pitchFamily="34" charset="0"/>
                        </a:rPr>
                        <a:t>Data handling and record management</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713">
                <a:tc>
                  <a:txBody>
                    <a:bodyPr/>
                    <a:lstStyle/>
                    <a:p>
                      <a:pPr algn="ctr"/>
                      <a:r>
                        <a:rPr lang="en-IN" sz="1800" b="0" dirty="0">
                          <a:latin typeface="Arial" panose="020B0604020202020204" pitchFamily="34" charset="0"/>
                          <a:cs typeface="Arial" panose="020B0604020202020204" pitchFamily="34" charset="0"/>
                        </a:rPr>
                        <a:t>NumPy</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latin typeface="Arial" panose="020B0604020202020204" pitchFamily="34" charset="0"/>
                          <a:cs typeface="Arial" panose="020B0604020202020204" pitchFamily="34" charset="0"/>
                        </a:rPr>
                        <a:t>Numerical operations and calculations</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713">
                <a:tc>
                  <a:txBody>
                    <a:bodyPr/>
                    <a:lstStyle/>
                    <a:p>
                      <a:pPr algn="ctr"/>
                      <a:r>
                        <a:rPr lang="en-IN" sz="1800" b="0" dirty="0">
                          <a:latin typeface="Arial" panose="020B0604020202020204" pitchFamily="34" charset="0"/>
                          <a:cs typeface="Arial" panose="020B0604020202020204" pitchFamily="34" charset="0"/>
                        </a:rPr>
                        <a:t>Datetime</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Arial" panose="020B0604020202020204" pitchFamily="34" charset="0"/>
                          <a:cs typeface="Arial" panose="020B0604020202020204" pitchFamily="34" charset="0"/>
                        </a:rPr>
                        <a:t>Managing date and time information</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713">
                <a:tc>
                  <a:txBody>
                    <a:bodyPr/>
                    <a:lstStyle/>
                    <a:p>
                      <a:pPr algn="ctr"/>
                      <a:r>
                        <a:rPr lang="en-IN" sz="1800" b="0" dirty="0">
                          <a:latin typeface="Arial" panose="020B0604020202020204" pitchFamily="34" charset="0"/>
                          <a:cs typeface="Arial" panose="020B0604020202020204" pitchFamily="34" charset="0"/>
                        </a:rPr>
                        <a:t>OS</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latin typeface="Arial" panose="020B0604020202020204" pitchFamily="34" charset="0"/>
                          <a:cs typeface="Arial" panose="020B0604020202020204" pitchFamily="34" charset="0"/>
                        </a:rPr>
                        <a:t>File and system operations</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713">
                <a:tc>
                  <a:txBody>
                    <a:bodyPr/>
                    <a:lstStyle/>
                    <a:p>
                      <a:pPr algn="ctr"/>
                      <a:r>
                        <a:rPr lang="en-IN" sz="1800" b="0" dirty="0">
                          <a:latin typeface="Arial" panose="020B0604020202020204" pitchFamily="34" charset="0"/>
                          <a:cs typeface="Arial" panose="020B0604020202020204" pitchFamily="34" charset="0"/>
                        </a:rPr>
                        <a:t>Hashlib</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Arial" panose="020B0604020202020204" pitchFamily="34" charset="0"/>
                          <a:cs typeface="Arial" panose="020B0604020202020204" pitchFamily="34" charset="0"/>
                        </a:rPr>
                        <a:t>Data security and password hashing (if implemented)</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713">
                <a:tc>
                  <a:txBody>
                    <a:bodyPr/>
                    <a:lstStyle/>
                    <a:p>
                      <a:pPr algn="ctr"/>
                      <a:r>
                        <a:rPr lang="en-IN" sz="1800" b="0" dirty="0">
                          <a:latin typeface="Arial" panose="020B0604020202020204" pitchFamily="34" charset="0"/>
                          <a:cs typeface="Arial" panose="020B0604020202020204" pitchFamily="34" charset="0"/>
                        </a:rPr>
                        <a:t>JSON</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latin typeface="Arial" panose="020B0604020202020204" pitchFamily="34" charset="0"/>
                          <a:cs typeface="Arial" panose="020B0604020202020204" pitchFamily="34" charset="0"/>
                        </a:rPr>
                        <a:t>Data storage and transfer</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713">
                <a:tc>
                  <a:txBody>
                    <a:bodyPr/>
                    <a:lstStyle/>
                    <a:p>
                      <a:pPr algn="ctr"/>
                      <a:r>
                        <a:rPr lang="en-IN" sz="1800" b="0" dirty="0">
                          <a:latin typeface="Arial" panose="020B0604020202020204" pitchFamily="34" charset="0"/>
                          <a:cs typeface="Arial" panose="020B0604020202020204" pitchFamily="34" charset="0"/>
                        </a:rPr>
                        <a:t>Plotly / Matplotlib</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Arial" panose="020B0604020202020204" pitchFamily="34" charset="0"/>
                          <a:cs typeface="Arial" panose="020B0604020202020204" pitchFamily="34" charset="0"/>
                        </a:rPr>
                        <a:t>Data visualization and dashboard analytics</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27747">
                <a:tc>
                  <a:txBody>
                    <a:bodyPr/>
                    <a:lstStyle/>
                    <a:p>
                      <a:pPr algn="ctr"/>
                      <a:r>
                        <a:rPr lang="en-IN" sz="1800" b="0" dirty="0">
                          <a:latin typeface="Arial" panose="020B0604020202020204" pitchFamily="34" charset="0"/>
                          <a:cs typeface="Arial" panose="020B0604020202020204" pitchFamily="34" charset="0"/>
                        </a:rPr>
                        <a:t>Scikit-learn</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Arial" panose="020B0604020202020204" pitchFamily="34" charset="0"/>
                          <a:cs typeface="Arial" panose="020B0604020202020204" pitchFamily="34" charset="0"/>
                        </a:rPr>
                        <a:t>Future AI/ML-based prediction and recommendation features</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713">
                <a:tc>
                  <a:txBody>
                    <a:bodyPr/>
                    <a:lstStyle/>
                    <a:p>
                      <a:pPr algn="ctr"/>
                      <a:r>
                        <a:rPr lang="en-IN" sz="1800" b="0" dirty="0">
                          <a:latin typeface="Arial" panose="020B0604020202020204" pitchFamily="34" charset="0"/>
                          <a:cs typeface="Arial" panose="020B0604020202020204" pitchFamily="34" charset="0"/>
                        </a:rPr>
                        <a:t>OpenAI / Generative AI APIs</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latin typeface="Arial" panose="020B0604020202020204" pitchFamily="34" charset="0"/>
                          <a:cs typeface="Arial" panose="020B0604020202020204" pitchFamily="34" charset="0"/>
                        </a:rPr>
                        <a:t>AI Assistant module for user guidance</a:t>
                      </a:r>
                    </a:p>
                  </a:txBody>
                  <a:tcPr marL="89678" marR="89678" marT="44839" marB="448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4310811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731032"/>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 xmlns:a16="http://schemas.microsoft.com/office/drawing/2014/main" id="{F7F0871F-2198-9E37-C96F-3611AA199B60}"/>
              </a:ext>
            </a:extLst>
          </p:cNvPr>
          <p:cNvSpPr>
            <a:spLocks noGrp="1"/>
          </p:cNvSpPr>
          <p:nvPr>
            <p:ph idx="1"/>
          </p:nvPr>
        </p:nvSpPr>
        <p:spPr>
          <a:xfrm>
            <a:off x="581192" y="1165493"/>
            <a:ext cx="11029615" cy="5310530"/>
          </a:xfrm>
        </p:spPr>
        <p:txBody>
          <a:bodyPr>
            <a:normAutofit/>
          </a:bodyPr>
          <a:lstStyle/>
          <a:p>
            <a:pPr marL="0" indent="0">
              <a:buNone/>
            </a:pPr>
            <a:r>
              <a:rPr lang="en-IN" sz="2000" b="1" dirty="0">
                <a:latin typeface="Arial" panose="020B0604020202020204" pitchFamily="34" charset="0"/>
                <a:cs typeface="Arial" panose="020B0604020202020204" pitchFamily="34" charset="0"/>
              </a:rPr>
              <a:t>Algorithm Selection</a:t>
            </a:r>
          </a:p>
          <a:p>
            <a:pPr marL="0" indent="0">
              <a:buNone/>
            </a:pPr>
            <a:r>
              <a:rPr lang="en-IN" sz="2000" dirty="0">
                <a:latin typeface="Arial" panose="020B0604020202020204" pitchFamily="34" charset="0"/>
                <a:cs typeface="Arial" panose="020B0604020202020204" pitchFamily="34" charset="0"/>
              </a:rPr>
              <a:t>MediMatch uses a </a:t>
            </a:r>
            <a:r>
              <a:rPr lang="en-IN" sz="2000" b="1" dirty="0">
                <a:latin typeface="Arial" panose="020B0604020202020204" pitchFamily="34" charset="0"/>
                <a:cs typeface="Arial" panose="020B0604020202020204" pitchFamily="34" charset="0"/>
              </a:rPr>
              <a:t>Rule-Based Matching Algorithm</a:t>
            </a:r>
            <a:r>
              <a:rPr lang="en-IN" sz="2000" dirty="0">
                <a:latin typeface="Arial" panose="020B0604020202020204" pitchFamily="34" charset="0"/>
                <a:cs typeface="Arial" panose="020B0604020202020204" pitchFamily="34" charset="0"/>
              </a:rPr>
              <a:t> to identify compatible blood and organ donors. This approach was chosen because medical compatibility follows predefined rules and requires accurate, transparent matching.</a:t>
            </a:r>
          </a:p>
          <a:p>
            <a:pPr marL="0" indent="0">
              <a:buNone/>
            </a:pPr>
            <a:r>
              <a:rPr lang="en-IN" sz="2000" b="1" dirty="0">
                <a:latin typeface="Arial" panose="020B0604020202020204" pitchFamily="34" charset="0"/>
                <a:cs typeface="Arial" panose="020B0604020202020204" pitchFamily="34" charset="0"/>
              </a:rPr>
              <a:t>Data Input</a:t>
            </a:r>
          </a:p>
          <a:p>
            <a:pPr marL="0" indent="0">
              <a:lnSpc>
                <a:spcPct val="100000"/>
              </a:lnSpc>
              <a:buNone/>
            </a:pPr>
            <a:r>
              <a:rPr lang="en-IN" sz="2000" dirty="0">
                <a:latin typeface="Arial" panose="020B0604020202020204" pitchFamily="34" charset="0"/>
                <a:cs typeface="Arial" panose="020B0604020202020204" pitchFamily="34" charset="0"/>
              </a:rPr>
              <a:t>The algorithm uses:</a:t>
            </a:r>
          </a:p>
          <a:p>
            <a:pPr>
              <a:lnSpc>
                <a:spcPct val="100000"/>
              </a:lnSpc>
              <a:spcAft>
                <a:spcPts val="0"/>
              </a:spcAft>
              <a:buFont typeface="Wingdings" panose="05000000000000000000" pitchFamily="2" charset="2"/>
              <a:buChar char="§"/>
            </a:pPr>
            <a:r>
              <a:rPr lang="en-IN" sz="2000" dirty="0">
                <a:latin typeface="Arial" panose="020B0604020202020204" pitchFamily="34" charset="0"/>
                <a:cs typeface="Arial" panose="020B0604020202020204" pitchFamily="34" charset="0"/>
              </a:rPr>
              <a:t>Donor blood group </a:t>
            </a:r>
          </a:p>
          <a:p>
            <a:pPr>
              <a:lnSpc>
                <a:spcPct val="100000"/>
              </a:lnSpc>
              <a:spcAft>
                <a:spcPts val="0"/>
              </a:spcAft>
              <a:buFont typeface="Wingdings" panose="05000000000000000000" pitchFamily="2" charset="2"/>
              <a:buChar char="§"/>
            </a:pPr>
            <a:r>
              <a:rPr lang="en-IN" sz="2000" dirty="0">
                <a:latin typeface="Arial" panose="020B0604020202020204" pitchFamily="34" charset="0"/>
                <a:cs typeface="Arial" panose="020B0604020202020204" pitchFamily="34" charset="0"/>
              </a:rPr>
              <a:t>Organ type </a:t>
            </a:r>
          </a:p>
          <a:p>
            <a:pPr>
              <a:lnSpc>
                <a:spcPct val="100000"/>
              </a:lnSpc>
              <a:spcAft>
                <a:spcPts val="0"/>
              </a:spcAft>
              <a:buFont typeface="Wingdings" panose="05000000000000000000" pitchFamily="2" charset="2"/>
              <a:buChar char="§"/>
            </a:pPr>
            <a:r>
              <a:rPr lang="en-IN" sz="2000" dirty="0">
                <a:latin typeface="Arial" panose="020B0604020202020204" pitchFamily="34" charset="0"/>
                <a:cs typeface="Arial" panose="020B0604020202020204" pitchFamily="34" charset="0"/>
              </a:rPr>
              <a:t>Availability status </a:t>
            </a:r>
          </a:p>
          <a:p>
            <a:pPr>
              <a:lnSpc>
                <a:spcPct val="100000"/>
              </a:lnSpc>
              <a:spcAft>
                <a:spcPts val="0"/>
              </a:spcAft>
              <a:buFont typeface="Wingdings" panose="05000000000000000000" pitchFamily="2" charset="2"/>
              <a:buChar char="§"/>
            </a:pPr>
            <a:r>
              <a:rPr lang="en-IN" sz="2000" dirty="0">
                <a:latin typeface="Arial" panose="020B0604020202020204" pitchFamily="34" charset="0"/>
                <a:cs typeface="Arial" panose="020B0604020202020204" pitchFamily="34" charset="0"/>
              </a:rPr>
              <a:t>Recipient blood group </a:t>
            </a:r>
          </a:p>
          <a:p>
            <a:pPr>
              <a:lnSpc>
                <a:spcPct val="100000"/>
              </a:lnSpc>
              <a:spcAft>
                <a:spcPts val="0"/>
              </a:spcAft>
              <a:buFont typeface="Wingdings" panose="05000000000000000000" pitchFamily="2" charset="2"/>
              <a:buChar char="§"/>
            </a:pPr>
            <a:r>
              <a:rPr lang="en-IN" sz="2000" dirty="0">
                <a:latin typeface="Arial" panose="020B0604020202020204" pitchFamily="34" charset="0"/>
                <a:cs typeface="Arial" panose="020B0604020202020204" pitchFamily="34" charset="0"/>
              </a:rPr>
              <a:t>Required organ </a:t>
            </a:r>
          </a:p>
          <a:p>
            <a:pPr>
              <a:lnSpc>
                <a:spcPct val="100000"/>
              </a:lnSpc>
              <a:spcAft>
                <a:spcPts val="0"/>
              </a:spcAft>
              <a:buFont typeface="Wingdings" panose="05000000000000000000" pitchFamily="2" charset="2"/>
              <a:buChar char="§"/>
            </a:pPr>
            <a:r>
              <a:rPr lang="en-IN" sz="2000" dirty="0">
                <a:latin typeface="Arial" panose="020B0604020202020204" pitchFamily="34" charset="0"/>
                <a:cs typeface="Arial" panose="020B0604020202020204" pitchFamily="34" charset="0"/>
              </a:rPr>
              <a:t>Basic donor and recipient details</a:t>
            </a:r>
          </a:p>
          <a:p>
            <a:pPr marL="0" indent="0">
              <a:buNone/>
            </a:pPr>
            <a:endParaRPr lang="en-IN" dirty="0"/>
          </a:p>
        </p:txBody>
      </p:sp>
    </p:spTree>
    <p:extLst>
      <p:ext uri="{BB962C8B-B14F-4D97-AF65-F5344CB8AC3E}">
        <p14:creationId xmlns:p14="http://schemas.microsoft.com/office/powerpoint/2010/main" val="41545087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4260" y="635267"/>
            <a:ext cx="8296977" cy="707886"/>
          </a:xfrm>
          <a:prstGeom prst="rect">
            <a:avLst/>
          </a:prstGeom>
          <a:noFill/>
        </p:spPr>
        <p:txBody>
          <a:bodyPr wrap="square" rtlCol="0">
            <a:spAutoFit/>
          </a:bodyPr>
          <a:lstStyle/>
          <a:p>
            <a:r>
              <a:rPr lang="en-US" sz="4000" b="1" dirty="0" smtClean="0">
                <a:solidFill>
                  <a:schemeClr val="accent1"/>
                </a:solidFill>
                <a:latin typeface="Arial"/>
                <a:ea typeface="+mj-lt"/>
                <a:cs typeface="Arial"/>
              </a:rPr>
              <a:t>ALGORITHM &amp; DEPLOYMENT</a:t>
            </a:r>
            <a:endParaRPr lang="en-IN" sz="4000" dirty="0"/>
          </a:p>
        </p:txBody>
      </p:sp>
      <p:sp>
        <p:nvSpPr>
          <p:cNvPr id="3" name="TextBox 2"/>
          <p:cNvSpPr txBox="1"/>
          <p:nvPr/>
        </p:nvSpPr>
        <p:spPr>
          <a:xfrm>
            <a:off x="606392" y="1597794"/>
            <a:ext cx="11184555" cy="4190891"/>
          </a:xfrm>
          <a:prstGeom prst="rect">
            <a:avLst/>
          </a:prstGeom>
          <a:noFill/>
        </p:spPr>
        <p:txBody>
          <a:bodyPr wrap="square" rtlCol="0">
            <a:spAutoFit/>
          </a:bodyPr>
          <a:lstStyle/>
          <a:p>
            <a:pPr>
              <a:spcBef>
                <a:spcPts val="480"/>
              </a:spcBef>
              <a:spcAft>
                <a:spcPts val="600"/>
              </a:spcAft>
            </a:pPr>
            <a:r>
              <a:rPr lang="en-US" sz="2000" b="1" dirty="0" smtClean="0">
                <a:latin typeface="Arial" panose="020B0604020202020204" pitchFamily="34" charset="0"/>
                <a:cs typeface="Arial" panose="020B0604020202020204" pitchFamily="34" charset="0"/>
              </a:rPr>
              <a:t>Matching Process</a:t>
            </a:r>
          </a:p>
          <a:p>
            <a:pPr marL="285750" indent="-285750">
              <a:spcBef>
                <a:spcPts val="480"/>
              </a:spcBef>
              <a:buClr>
                <a:schemeClr val="accent1"/>
              </a:buClr>
              <a:buFont typeface="Wingdings" panose="05000000000000000000" pitchFamily="2" charset="2"/>
              <a:buChar char="§"/>
            </a:pPr>
            <a:r>
              <a:rPr lang="en-US" sz="2000" dirty="0">
                <a:latin typeface="Arial" panose="020B0604020202020204" pitchFamily="34" charset="0"/>
                <a:cs typeface="Arial" panose="020B0604020202020204" pitchFamily="34" charset="0"/>
              </a:rPr>
              <a:t>Retrieve donor and recipient records. </a:t>
            </a:r>
          </a:p>
          <a:p>
            <a:pPr marL="285750" indent="-285750">
              <a:spcBef>
                <a:spcPts val="480"/>
              </a:spcBef>
              <a:buClr>
                <a:schemeClr val="accent1"/>
              </a:buClr>
              <a:buFont typeface="Wingdings" panose="05000000000000000000" pitchFamily="2" charset="2"/>
              <a:buChar char="§"/>
            </a:pPr>
            <a:r>
              <a:rPr lang="en-US" sz="2000" dirty="0">
                <a:latin typeface="Arial" panose="020B0604020202020204" pitchFamily="34" charset="0"/>
                <a:cs typeface="Arial" panose="020B0604020202020204" pitchFamily="34" charset="0"/>
              </a:rPr>
              <a:t>Filter available donors. </a:t>
            </a:r>
          </a:p>
          <a:p>
            <a:pPr marL="285750" indent="-285750">
              <a:spcBef>
                <a:spcPts val="480"/>
              </a:spcBef>
              <a:buClr>
                <a:schemeClr val="accent1"/>
              </a:buClr>
              <a:buFont typeface="Wingdings" panose="05000000000000000000" pitchFamily="2" charset="2"/>
              <a:buChar char="§"/>
            </a:pPr>
            <a:r>
              <a:rPr lang="en-US" sz="2000" dirty="0">
                <a:latin typeface="Arial" panose="020B0604020202020204" pitchFamily="34" charset="0"/>
                <a:cs typeface="Arial" panose="020B0604020202020204" pitchFamily="34" charset="0"/>
              </a:rPr>
              <a:t>Check blood group compatibility. </a:t>
            </a:r>
          </a:p>
          <a:p>
            <a:pPr marL="285750" indent="-285750">
              <a:spcBef>
                <a:spcPts val="480"/>
              </a:spcBef>
              <a:buClr>
                <a:schemeClr val="accent1"/>
              </a:buClr>
              <a:buFont typeface="Wingdings" panose="05000000000000000000" pitchFamily="2" charset="2"/>
              <a:buChar char="§"/>
            </a:pPr>
            <a:r>
              <a:rPr lang="en-US" sz="2000" dirty="0">
                <a:latin typeface="Arial" panose="020B0604020202020204" pitchFamily="34" charset="0"/>
                <a:cs typeface="Arial" panose="020B0604020202020204" pitchFamily="34" charset="0"/>
              </a:rPr>
              <a:t>Verify organ type compatibility. </a:t>
            </a:r>
          </a:p>
          <a:p>
            <a:pPr marL="285750" indent="-285750">
              <a:spcBef>
                <a:spcPts val="480"/>
              </a:spcBef>
              <a:buClr>
                <a:schemeClr val="accent1"/>
              </a:buClr>
              <a:buFont typeface="Wingdings" panose="05000000000000000000" pitchFamily="2" charset="2"/>
              <a:buChar char="§"/>
            </a:pPr>
            <a:r>
              <a:rPr lang="en-US" sz="2000" dirty="0">
                <a:latin typeface="Arial" panose="020B0604020202020204" pitchFamily="34" charset="0"/>
                <a:cs typeface="Arial" panose="020B0604020202020204" pitchFamily="34" charset="0"/>
              </a:rPr>
              <a:t>Rank and display eligible donors. </a:t>
            </a:r>
            <a:endParaRPr lang="en-US" sz="2000" dirty="0" smtClean="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pPr>
              <a:spcBef>
                <a:spcPts val="480"/>
              </a:spcBef>
              <a:spcAft>
                <a:spcPts val="600"/>
              </a:spcAft>
            </a:pPr>
            <a:r>
              <a:rPr lang="en-US" sz="2000" b="1" dirty="0" smtClean="0">
                <a:latin typeface="Arial" panose="020B0604020202020204" pitchFamily="34" charset="0"/>
                <a:cs typeface="Arial" panose="020B0604020202020204" pitchFamily="34" charset="0"/>
              </a:rPr>
              <a:t>Output</a:t>
            </a:r>
          </a:p>
          <a:p>
            <a:pPr>
              <a:spcBef>
                <a:spcPts val="480"/>
              </a:spcBef>
              <a:spcAft>
                <a:spcPts val="600"/>
              </a:spcAft>
            </a:pP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system generates a list of compatible donors and displays the best matches through the Streamlit dashboard for quick decision-making during emergencies.</a:t>
            </a:r>
          </a:p>
          <a:p>
            <a:pPr>
              <a:spcBef>
                <a:spcPts val="480"/>
              </a:spcBef>
            </a:pPr>
            <a:endParaRPr lang="en-IN" dirty="0"/>
          </a:p>
        </p:txBody>
      </p:sp>
    </p:spTree>
    <p:extLst>
      <p:ext uri="{BB962C8B-B14F-4D97-AF65-F5344CB8AC3E}">
        <p14:creationId xmlns:p14="http://schemas.microsoft.com/office/powerpoint/2010/main" val="21662874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771730"/>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pic>
        <p:nvPicPr>
          <p:cNvPr id="4" name="Content Placeholder 3"/>
          <p:cNvPicPr>
            <a:picLocks noGrp="1"/>
          </p:cNvPicPr>
          <p:nvPr>
            <p:ph idx="1"/>
          </p:nvPr>
        </p:nvPicPr>
        <p:blipFill>
          <a:blip r:embed="rId2"/>
          <a:stretch>
            <a:fillRect/>
          </a:stretch>
        </p:blipFill>
        <p:spPr>
          <a:xfrm>
            <a:off x="715946" y="1368095"/>
            <a:ext cx="10535093" cy="4801676"/>
          </a:xfrm>
          <a:prstGeom prst="rect">
            <a:avLst/>
          </a:prstGeom>
        </p:spPr>
      </p:pic>
      <p:sp>
        <p:nvSpPr>
          <p:cNvPr id="3" name="TextBox 2"/>
          <p:cNvSpPr txBox="1"/>
          <p:nvPr/>
        </p:nvSpPr>
        <p:spPr>
          <a:xfrm>
            <a:off x="4922186" y="6235840"/>
            <a:ext cx="3128211" cy="400110"/>
          </a:xfrm>
          <a:prstGeom prst="rect">
            <a:avLst/>
          </a:prstGeom>
          <a:noFill/>
        </p:spPr>
        <p:txBody>
          <a:bodyPr wrap="square" rtlCol="0">
            <a:spAutoFit/>
          </a:bodyPr>
          <a:lstStyle/>
          <a:p>
            <a:r>
              <a:rPr lang="en-US" sz="2000" b="1" u="sng" dirty="0" smtClean="0">
                <a:latin typeface="Arial" panose="020B0604020202020204" pitchFamily="34" charset="0"/>
                <a:cs typeface="Arial" panose="020B0604020202020204" pitchFamily="34" charset="0"/>
              </a:rPr>
              <a:t>IBM BOB Interface</a:t>
            </a:r>
            <a:endParaRPr lang="en-IN" sz="2000" b="1"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32933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771730"/>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pic>
        <p:nvPicPr>
          <p:cNvPr id="6" name="Content Placeholder 5"/>
          <p:cNvPicPr>
            <a:picLocks noGrp="1"/>
          </p:cNvPicPr>
          <p:nvPr>
            <p:ph idx="1"/>
          </p:nvPr>
        </p:nvPicPr>
        <p:blipFill>
          <a:blip r:embed="rId2"/>
          <a:stretch>
            <a:fillRect/>
          </a:stretch>
        </p:blipFill>
        <p:spPr>
          <a:xfrm>
            <a:off x="667819" y="1436503"/>
            <a:ext cx="10612989" cy="4673600"/>
          </a:xfrm>
          <a:prstGeom prst="rect">
            <a:avLst/>
          </a:prstGeom>
        </p:spPr>
      </p:pic>
      <p:sp>
        <p:nvSpPr>
          <p:cNvPr id="7" name="TextBox 6"/>
          <p:cNvSpPr txBox="1"/>
          <p:nvPr/>
        </p:nvSpPr>
        <p:spPr>
          <a:xfrm>
            <a:off x="4146884" y="6244580"/>
            <a:ext cx="3898232" cy="400110"/>
          </a:xfrm>
          <a:prstGeom prst="rect">
            <a:avLst/>
          </a:prstGeom>
          <a:noFill/>
        </p:spPr>
        <p:txBody>
          <a:bodyPr wrap="square" rtlCol="0">
            <a:spAutoFit/>
          </a:bodyPr>
          <a:lstStyle/>
          <a:p>
            <a:pPr algn="ctr"/>
            <a:r>
              <a:rPr lang="en-US" sz="2000" b="1" u="sng" dirty="0" smtClean="0">
                <a:latin typeface="Arial" panose="020B0604020202020204" pitchFamily="34" charset="0"/>
                <a:cs typeface="Arial" panose="020B0604020202020204" pitchFamily="34" charset="0"/>
              </a:rPr>
              <a:t>Libraries used</a:t>
            </a:r>
            <a:endParaRPr lang="en-IN" sz="2000" b="1"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62470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771730"/>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3" name="TextBox 2"/>
          <p:cNvSpPr txBox="1"/>
          <p:nvPr/>
        </p:nvSpPr>
        <p:spPr>
          <a:xfrm>
            <a:off x="279366" y="6235998"/>
            <a:ext cx="5389913" cy="400110"/>
          </a:xfrm>
          <a:prstGeom prst="rect">
            <a:avLst/>
          </a:prstGeom>
          <a:noFill/>
        </p:spPr>
        <p:txBody>
          <a:bodyPr wrap="square" rtlCol="0">
            <a:spAutoFit/>
          </a:bodyPr>
          <a:lstStyle/>
          <a:p>
            <a:pPr algn="ctr"/>
            <a:r>
              <a:rPr lang="en-US" sz="2000" b="1" u="sng" dirty="0" smtClean="0">
                <a:latin typeface="Arial" panose="020B0604020202020204" pitchFamily="34" charset="0"/>
                <a:cs typeface="Arial" panose="020B0604020202020204" pitchFamily="34" charset="0"/>
              </a:rPr>
              <a:t>OUTPUT</a:t>
            </a:r>
            <a:r>
              <a:rPr lang="en-US" sz="2000" b="1" dirty="0" smtClean="0">
                <a:latin typeface="Arial" panose="020B0604020202020204" pitchFamily="34" charset="0"/>
                <a:cs typeface="Arial" panose="020B0604020202020204" pitchFamily="34" charset="0"/>
              </a:rPr>
              <a:t> - Main Interface of MediMatch</a:t>
            </a:r>
            <a:endParaRPr lang="en-IN" sz="2000" b="1" dirty="0">
              <a:latin typeface="Arial" panose="020B0604020202020204" pitchFamily="34" charset="0"/>
              <a:cs typeface="Arial" panose="020B0604020202020204" pitchFamily="34" charset="0"/>
            </a:endParaRPr>
          </a:p>
        </p:txBody>
      </p:sp>
      <p:pic>
        <p:nvPicPr>
          <p:cNvPr id="8" name="Content Placeholder 7"/>
          <p:cNvPicPr>
            <a:picLocks noGrp="1"/>
          </p:cNvPicPr>
          <p:nvPr>
            <p:ph idx="1"/>
          </p:nvPr>
        </p:nvPicPr>
        <p:blipFill>
          <a:blip r:embed="rId2"/>
          <a:stretch>
            <a:fillRect/>
          </a:stretch>
        </p:blipFill>
        <p:spPr>
          <a:xfrm>
            <a:off x="713380" y="1432212"/>
            <a:ext cx="9764213" cy="467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951358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771730"/>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3" name="TextBox 2"/>
          <p:cNvSpPr txBox="1"/>
          <p:nvPr/>
        </p:nvSpPr>
        <p:spPr>
          <a:xfrm>
            <a:off x="581192" y="6235840"/>
            <a:ext cx="4452820" cy="400110"/>
          </a:xfrm>
          <a:prstGeom prst="rect">
            <a:avLst/>
          </a:prstGeom>
          <a:noFill/>
        </p:spPr>
        <p:txBody>
          <a:bodyPr wrap="square" rtlCol="0">
            <a:spAutoFit/>
          </a:bodyPr>
          <a:lstStyle/>
          <a:p>
            <a:r>
              <a:rPr lang="en-US" sz="2000" b="1" u="sng" dirty="0" smtClean="0">
                <a:latin typeface="Arial" panose="020B0604020202020204" pitchFamily="34" charset="0"/>
                <a:cs typeface="Arial" panose="020B0604020202020204" pitchFamily="34" charset="0"/>
              </a:rPr>
              <a:t>INPUT</a:t>
            </a:r>
            <a:r>
              <a:rPr lang="en-US" sz="2000" b="1" dirty="0" smtClean="0">
                <a:latin typeface="Arial" panose="020B0604020202020204" pitchFamily="34" charset="0"/>
                <a:cs typeface="Arial" panose="020B0604020202020204" pitchFamily="34" charset="0"/>
              </a:rPr>
              <a:t> – Making Donation Request</a:t>
            </a:r>
            <a:endParaRPr lang="en-IN" sz="2000" b="1" dirty="0">
              <a:latin typeface="Arial" panose="020B0604020202020204" pitchFamily="34" charset="0"/>
              <a:cs typeface="Arial" panose="020B0604020202020204" pitchFamily="34" charset="0"/>
            </a:endParaRPr>
          </a:p>
        </p:txBody>
      </p:sp>
      <p:pic>
        <p:nvPicPr>
          <p:cNvPr id="8" name="Content Placeholder 7"/>
          <p:cNvPicPr>
            <a:picLocks noGrp="1"/>
          </p:cNvPicPr>
          <p:nvPr>
            <p:ph idx="1"/>
          </p:nvPr>
        </p:nvPicPr>
        <p:blipFill>
          <a:blip r:embed="rId2"/>
          <a:stretch>
            <a:fillRect/>
          </a:stretch>
        </p:blipFill>
        <p:spPr>
          <a:xfrm>
            <a:off x="759441" y="1432133"/>
            <a:ext cx="8780148" cy="467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151122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771730"/>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3" name="TextBox 2"/>
          <p:cNvSpPr txBox="1"/>
          <p:nvPr/>
        </p:nvSpPr>
        <p:spPr>
          <a:xfrm>
            <a:off x="581191" y="6301886"/>
            <a:ext cx="5020711" cy="400110"/>
          </a:xfrm>
          <a:prstGeom prst="rect">
            <a:avLst/>
          </a:prstGeom>
          <a:noFill/>
        </p:spPr>
        <p:txBody>
          <a:bodyPr wrap="square" rtlCol="0">
            <a:spAutoFit/>
          </a:bodyPr>
          <a:lstStyle/>
          <a:p>
            <a:r>
              <a:rPr lang="en-US" sz="2000" b="1" u="sng" dirty="0" smtClean="0">
                <a:latin typeface="Arial" panose="020B0604020202020204" pitchFamily="34" charset="0"/>
                <a:cs typeface="Arial" panose="020B0604020202020204" pitchFamily="34" charset="0"/>
              </a:rPr>
              <a:t>OUTPUT</a:t>
            </a:r>
            <a:r>
              <a:rPr lang="en-US" sz="2000" b="1" dirty="0" smtClean="0">
                <a:latin typeface="Arial" panose="020B0604020202020204" pitchFamily="34" charset="0"/>
                <a:cs typeface="Arial" panose="020B0604020202020204" pitchFamily="34" charset="0"/>
              </a:rPr>
              <a:t> – Finding Compatible Donors</a:t>
            </a:r>
            <a:endParaRPr lang="en-IN" sz="2000" b="1" dirty="0">
              <a:latin typeface="Arial" panose="020B0604020202020204" pitchFamily="34" charset="0"/>
              <a:cs typeface="Arial" panose="020B0604020202020204" pitchFamily="34" charset="0"/>
            </a:endParaRPr>
          </a:p>
        </p:txBody>
      </p:sp>
      <p:pic>
        <p:nvPicPr>
          <p:cNvPr id="6" name="Content Placeholder 5"/>
          <p:cNvPicPr>
            <a:picLocks noGrp="1"/>
          </p:cNvPicPr>
          <p:nvPr>
            <p:ph idx="1"/>
          </p:nvPr>
        </p:nvPicPr>
        <p:blipFill>
          <a:blip r:embed="rId2"/>
          <a:stretch>
            <a:fillRect/>
          </a:stretch>
        </p:blipFill>
        <p:spPr>
          <a:xfrm>
            <a:off x="764072" y="1470634"/>
            <a:ext cx="8771566" cy="467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930951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771730"/>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3" name="TextBox 2"/>
          <p:cNvSpPr txBox="1"/>
          <p:nvPr/>
        </p:nvSpPr>
        <p:spPr>
          <a:xfrm>
            <a:off x="581191" y="6235840"/>
            <a:ext cx="4395069" cy="400110"/>
          </a:xfrm>
          <a:prstGeom prst="rect">
            <a:avLst/>
          </a:prstGeom>
          <a:noFill/>
        </p:spPr>
        <p:txBody>
          <a:bodyPr wrap="square" rtlCol="0">
            <a:spAutoFit/>
          </a:bodyPr>
          <a:lstStyle/>
          <a:p>
            <a:r>
              <a:rPr lang="en-US" sz="2000" b="1" u="sng" dirty="0" smtClean="0">
                <a:latin typeface="Arial" panose="020B0604020202020204" pitchFamily="34" charset="0"/>
                <a:cs typeface="Arial" panose="020B0604020202020204" pitchFamily="34" charset="0"/>
              </a:rPr>
              <a:t>OUTPUT</a:t>
            </a:r>
            <a:r>
              <a:rPr lang="en-US" sz="2000" b="1" dirty="0" smtClean="0">
                <a:latin typeface="Arial" panose="020B0604020202020204" pitchFamily="34" charset="0"/>
                <a:cs typeface="Arial" panose="020B0604020202020204" pitchFamily="34" charset="0"/>
              </a:rPr>
              <a:t> – Successful Matching</a:t>
            </a:r>
            <a:endParaRPr lang="en-IN" sz="2000" b="1" dirty="0">
              <a:latin typeface="Arial" panose="020B0604020202020204" pitchFamily="34" charset="0"/>
              <a:cs typeface="Arial" panose="020B0604020202020204" pitchFamily="34" charset="0"/>
            </a:endParaRPr>
          </a:p>
        </p:txBody>
      </p:sp>
      <p:pic>
        <p:nvPicPr>
          <p:cNvPr id="6" name="Content Placeholder 5"/>
          <p:cNvPicPr>
            <a:picLocks noGrp="1"/>
          </p:cNvPicPr>
          <p:nvPr>
            <p:ph idx="1"/>
          </p:nvPr>
        </p:nvPicPr>
        <p:blipFill>
          <a:blip r:embed="rId2"/>
          <a:stretch>
            <a:fillRect/>
          </a:stretch>
        </p:blipFill>
        <p:spPr>
          <a:xfrm>
            <a:off x="715946" y="1432133"/>
            <a:ext cx="9212846" cy="467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629471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1" y="771730"/>
            <a:ext cx="11029616" cy="530296"/>
          </a:xfrm>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2" name="Content Placeholder 1">
            <a:extLst>
              <a:ext uri="{FF2B5EF4-FFF2-40B4-BE49-F238E27FC236}">
                <a16:creationId xmlns="" xmlns:a16="http://schemas.microsoft.com/office/drawing/2014/main" id="{005E46AB-32C4-4B57-A2B1-50738A64BE1B}"/>
              </a:ext>
            </a:extLst>
          </p:cNvPr>
          <p:cNvSpPr>
            <a:spLocks noGrp="1"/>
          </p:cNvSpPr>
          <p:nvPr>
            <p:ph idx="1"/>
          </p:nvPr>
        </p:nvSpPr>
        <p:spPr>
          <a:xfrm>
            <a:off x="581191" y="771730"/>
            <a:ext cx="11029615" cy="4673324"/>
          </a:xfrm>
        </p:spPr>
        <p:txBody>
          <a:bodyPr>
            <a:normAutofit/>
          </a:bodyPr>
          <a:lstStyle/>
          <a:p>
            <a:pPr marL="0" indent="0" algn="just">
              <a:buNone/>
            </a:pPr>
            <a:r>
              <a:rPr lang="en-US" sz="2000" dirty="0">
                <a:latin typeface="Arial" panose="020B0604020202020204" pitchFamily="34" charset="0"/>
                <a:cs typeface="Arial" panose="020B0604020202020204" pitchFamily="34" charset="0"/>
              </a:rPr>
              <a:t>MediMatch successfully demonstrates the application of modern web technologies in healthcare management. The system automates donor registration, recipient request handling, and compatibility matching, thereby reducing the time required to identify suitable donors. The integration of an AI assistant further enhances user support and awareness regarding blood and organ donation</a:t>
            </a:r>
            <a:r>
              <a:rPr lang="en-US" sz="2000" dirty="0" smtClean="0">
                <a:latin typeface="Arial" panose="020B0604020202020204" pitchFamily="34" charset="0"/>
                <a:cs typeface="Arial" panose="020B0604020202020204" pitchFamily="34" charset="0"/>
              </a:rPr>
              <a:t>.</a:t>
            </a:r>
          </a:p>
          <a:p>
            <a:pPr marL="0" indent="0" algn="just">
              <a:buNone/>
            </a:pP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project contributes toward improving healthcare accessibility and emergency response by providing a centralized platform that efficiently connects donors and recipients.</a:t>
            </a:r>
          </a:p>
          <a:p>
            <a:pPr marL="0" indent="0">
              <a:buNone/>
            </a:pPr>
            <a:endParaRPr lang="en-IN" sz="2000" dirty="0">
              <a:solidFill>
                <a:srgbClr val="404040"/>
              </a:solidFill>
              <a:latin typeface="Arial" panose="020B0604020202020204" pitchFamily="34" charset="0"/>
              <a:ea typeface="+mn-lt"/>
              <a:cs typeface="Arial" panose="020B0604020202020204" pitchFamily="34" charset="0"/>
            </a:endParaRPr>
          </a:p>
          <a:p>
            <a:pPr marL="305435" indent="-305435"/>
            <a:endParaRPr lang="en-IN" sz="2000" dirty="0">
              <a:solidFill>
                <a:srgbClr val="0F0F0F"/>
              </a:solidFill>
            </a:endParaRPr>
          </a:p>
        </p:txBody>
      </p:sp>
    </p:spTree>
    <p:extLst>
      <p:ext uri="{BB962C8B-B14F-4D97-AF65-F5344CB8AC3E}">
        <p14:creationId xmlns:p14="http://schemas.microsoft.com/office/powerpoint/2010/main" val="31833151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6638FD1-D00E-E75B-705C-564F06D93D7B}"/>
              </a:ext>
            </a:extLst>
          </p:cNvPr>
          <p:cNvSpPr>
            <a:spLocks noGrp="1"/>
          </p:cNvSpPr>
          <p:nvPr>
            <p:ph idx="1"/>
          </p:nvPr>
        </p:nvSpPr>
        <p:spPr>
          <a:xfrm>
            <a:off x="535670" y="1176896"/>
            <a:ext cx="11029615" cy="5320155"/>
          </a:xfrm>
        </p:spPr>
        <p:txBody>
          <a:bodyPr>
            <a:noAutofit/>
          </a:bodyPr>
          <a:lstStyle/>
          <a:p>
            <a:pPr marL="0" indent="0">
              <a:buNone/>
            </a:pPr>
            <a:endParaRPr lang="en-US" sz="2000" b="1" dirty="0">
              <a:latin typeface="Arial" panose="020B0604020202020204" pitchFamily="34" charset="0"/>
              <a:cs typeface="Arial" panose="020B0604020202020204" pitchFamily="34" charset="0"/>
            </a:endParaRPr>
          </a:p>
          <a:p>
            <a:pPr marL="0" indent="0" algn="just">
              <a:buNone/>
            </a:pPr>
            <a:r>
              <a:rPr lang="en-US" sz="2000" dirty="0">
                <a:latin typeface="Arial" panose="020B0604020202020204" pitchFamily="34" charset="0"/>
                <a:cs typeface="Arial" panose="020B0604020202020204" pitchFamily="34" charset="0"/>
              </a:rPr>
              <a:t>The project can be extended through the following </a:t>
            </a:r>
            <a:r>
              <a:rPr lang="en-US" sz="2000" dirty="0" smtClean="0">
                <a:latin typeface="Arial" panose="020B0604020202020204" pitchFamily="34" charset="0"/>
                <a:cs typeface="Arial" panose="020B0604020202020204" pitchFamily="34" charset="0"/>
              </a:rPr>
              <a:t>enhancements :</a:t>
            </a:r>
            <a:endParaRPr lang="en-US" sz="2000" dirty="0">
              <a:latin typeface="Arial" panose="020B0604020202020204" pitchFamily="34" charset="0"/>
              <a:cs typeface="Arial" panose="020B0604020202020204" pitchFamily="34" charset="0"/>
            </a:endParaRPr>
          </a:p>
          <a:p>
            <a:pPr algn="just">
              <a:lnSpc>
                <a:spcPct val="100000"/>
              </a:lnSpc>
              <a:spcAft>
                <a:spcPts val="0"/>
              </a:spcAft>
              <a:buFont typeface="Arial" panose="020B0604020202020204" pitchFamily="34" charset="0"/>
              <a:buChar char="•"/>
            </a:pPr>
            <a:r>
              <a:rPr lang="en-US" sz="2000" dirty="0" smtClean="0">
                <a:latin typeface="Arial" panose="020B0604020202020204" pitchFamily="34" charset="0"/>
                <a:cs typeface="Arial" panose="020B0604020202020204" pitchFamily="34" charset="0"/>
              </a:rPr>
              <a:t>GPS-based </a:t>
            </a:r>
            <a:r>
              <a:rPr lang="en-US" sz="2000" dirty="0">
                <a:latin typeface="Arial" panose="020B0604020202020204" pitchFamily="34" charset="0"/>
                <a:cs typeface="Arial" panose="020B0604020202020204" pitchFamily="34" charset="0"/>
              </a:rPr>
              <a:t>nearest donor identification. </a:t>
            </a:r>
          </a:p>
          <a:p>
            <a:pPr algn="just">
              <a:lnSpc>
                <a:spcPct val="100000"/>
              </a:lnSpc>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Real-time notifications through SMS and email. </a:t>
            </a:r>
          </a:p>
          <a:p>
            <a:pPr algn="just">
              <a:lnSpc>
                <a:spcPct val="100000"/>
              </a:lnSpc>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Hospital and blood bank integration. </a:t>
            </a:r>
          </a:p>
          <a:p>
            <a:pPr algn="just">
              <a:lnSpc>
                <a:spcPct val="100000"/>
              </a:lnSpc>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Mobile application development (Android/iOS). </a:t>
            </a:r>
          </a:p>
          <a:p>
            <a:pPr algn="just">
              <a:lnSpc>
                <a:spcPct val="100000"/>
              </a:lnSpc>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Machine Learning-based donor availability prediction. </a:t>
            </a:r>
          </a:p>
          <a:p>
            <a:pPr algn="just">
              <a:lnSpc>
                <a:spcPct val="100000"/>
              </a:lnSpc>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AI-powered priority ranking of recipients. </a:t>
            </a:r>
          </a:p>
          <a:p>
            <a:pPr algn="just">
              <a:lnSpc>
                <a:spcPct val="100000"/>
              </a:lnSpc>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Integration with national healthcare databases. </a:t>
            </a:r>
          </a:p>
          <a:p>
            <a:pPr algn="just">
              <a:lnSpc>
                <a:spcPct val="100000"/>
              </a:lnSpc>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Real-time analytics and visualization dashboards. </a:t>
            </a:r>
          </a:p>
          <a:p>
            <a:pPr algn="just">
              <a:lnSpc>
                <a:spcPct val="100000"/>
              </a:lnSpc>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Multi-language support. </a:t>
            </a:r>
          </a:p>
          <a:p>
            <a:pPr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Block chain-based </a:t>
            </a:r>
            <a:r>
              <a:rPr lang="en-US" sz="2000" dirty="0">
                <a:latin typeface="Arial" panose="020B0604020202020204" pitchFamily="34" charset="0"/>
                <a:cs typeface="Arial" panose="020B0604020202020204" pitchFamily="34" charset="0"/>
              </a:rPr>
              <a:t>secure donor record management. </a:t>
            </a:r>
            <a:endParaRPr lang="en-US" sz="2000" dirty="0" smtClean="0">
              <a:latin typeface="Arial" panose="020B0604020202020204" pitchFamily="34" charset="0"/>
              <a:cs typeface="Arial" panose="020B0604020202020204" pitchFamily="34" charset="0"/>
            </a:endParaRPr>
          </a:p>
          <a:p>
            <a:pPr marL="0" indent="0">
              <a:lnSpc>
                <a:spcPct val="100000"/>
              </a:lnSpc>
              <a:buNone/>
            </a:pPr>
            <a:r>
              <a:rPr lang="en-US" sz="2000" dirty="0" smtClean="0">
                <a:latin typeface="Arial" panose="020B0604020202020204" pitchFamily="34" charset="0"/>
                <a:cs typeface="Arial" panose="020B0604020202020204" pitchFamily="34" charset="0"/>
              </a:rPr>
              <a:t>These </a:t>
            </a:r>
            <a:r>
              <a:rPr lang="en-US" sz="2000" dirty="0">
                <a:latin typeface="Arial" panose="020B0604020202020204" pitchFamily="34" charset="0"/>
                <a:cs typeface="Arial" panose="020B0604020202020204" pitchFamily="34" charset="0"/>
              </a:rPr>
              <a:t>enhancements can improve </a:t>
            </a:r>
            <a:r>
              <a:rPr lang="en-US" sz="2000" b="1" dirty="0">
                <a:latin typeface="Arial" panose="020B0604020202020204" pitchFamily="34" charset="0"/>
                <a:cs typeface="Arial" panose="020B0604020202020204" pitchFamily="34" charset="0"/>
              </a:rPr>
              <a:t>scalability, transparency, and reliability </a:t>
            </a:r>
            <a:r>
              <a:rPr lang="en-US" sz="2000" dirty="0">
                <a:latin typeface="Arial" panose="020B0604020202020204" pitchFamily="34" charset="0"/>
                <a:cs typeface="Arial" panose="020B0604020202020204" pitchFamily="34" charset="0"/>
              </a:rPr>
              <a:t>in large-scale healthcare environments.</a:t>
            </a:r>
          </a:p>
          <a:p>
            <a:pPr marL="0" indent="0">
              <a:buNone/>
            </a:pPr>
            <a:endParaRPr lang="en-US" sz="2000" dirty="0">
              <a:latin typeface="Arial" panose="020B0604020202020204" pitchFamily="34" charset="0"/>
              <a:cs typeface="Arial" panose="020B0604020202020204" pitchFamily="34" charset="0"/>
            </a:endParaRPr>
          </a:p>
        </p:txBody>
      </p:sp>
      <p:sp>
        <p:nvSpPr>
          <p:cNvPr id="5" name="Title 4">
            <a:extLst>
              <a:ext uri="{FF2B5EF4-FFF2-40B4-BE49-F238E27FC236}">
                <a16:creationId xmlns="" xmlns:a16="http://schemas.microsoft.com/office/drawing/2014/main" id="{3F968F13-9AC4-7120-7ACD-9F752C767D5D}"/>
              </a:ext>
            </a:extLst>
          </p:cNvPr>
          <p:cNvSpPr txBox="1">
            <a:spLocks/>
          </p:cNvSpPr>
          <p:nvPr/>
        </p:nvSpPr>
        <p:spPr>
          <a:xfrm>
            <a:off x="535670" y="748407"/>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600442" y="808034"/>
            <a:ext cx="11029616" cy="530296"/>
          </a:xfrm>
        </p:spPr>
        <p:txBody>
          <a:bodyPr>
            <a:normAutofit fontScale="90000"/>
          </a:bodyPr>
          <a:lstStyle/>
          <a:p>
            <a:r>
              <a:rPr lang="en-US" sz="4400" b="1" dirty="0">
                <a:solidFill>
                  <a:schemeClr val="accent1"/>
                </a:solidFill>
                <a:latin typeface="Arial"/>
                <a:ea typeface="+mj-lt"/>
                <a:cs typeface="Arial"/>
              </a:rPr>
              <a:t>References</a:t>
            </a:r>
            <a:endParaRPr lang="en-US" dirty="0"/>
          </a:p>
        </p:txBody>
      </p:sp>
      <p:sp>
        <p:nvSpPr>
          <p:cNvPr id="3" name="Rectangle 1"/>
          <p:cNvSpPr>
            <a:spLocks noGrp="1" noChangeArrowheads="1"/>
          </p:cNvSpPr>
          <p:nvPr>
            <p:ph idx="1"/>
          </p:nvPr>
        </p:nvSpPr>
        <p:spPr bwMode="auto">
          <a:xfrm>
            <a:off x="417562" y="1232452"/>
            <a:ext cx="11526553" cy="4088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ts val="480"/>
              </a:spcBef>
              <a:spcAft>
                <a:spcPct val="0"/>
              </a:spcAft>
              <a:buSzTx/>
              <a:buFont typeface="Wingdings" panose="05000000000000000000" pitchFamily="2" charset="2"/>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Python Software Foundation. </a:t>
            </a:r>
            <a:r>
              <a:rPr kumimoji="0" lang="en-US" altLang="en-US" sz="2000" b="0" i="1" u="none" strike="noStrike" cap="none" normalizeH="0" baseline="0" dirty="0" smtClean="0">
                <a:ln>
                  <a:noFill/>
                </a:ln>
                <a:solidFill>
                  <a:schemeClr val="tx1"/>
                </a:solidFill>
                <a:effectLst/>
                <a:latin typeface="Arial" panose="020B0604020202020204" pitchFamily="34" charset="0"/>
              </a:rPr>
              <a:t>Python Documentation</a:t>
            </a:r>
            <a:r>
              <a:rPr kumimoji="0" lang="en-US" altLang="en-US" sz="2000" b="0" i="0" u="none" strike="noStrike" cap="none" normalizeH="0" baseline="0" dirty="0" smtClean="0">
                <a:ln>
                  <a:noFill/>
                </a:ln>
                <a:solidFill>
                  <a:schemeClr val="tx1"/>
                </a:solidFill>
                <a:effectLst/>
                <a:latin typeface="Arial" panose="020B0604020202020204" pitchFamily="34" charset="0"/>
              </a:rPr>
              <a:t>. Available at: </a:t>
            </a:r>
            <a:r>
              <a:rPr kumimoji="0" lang="en-US" altLang="en-US" sz="2000" b="0" i="0" u="none" strike="noStrike" cap="none" normalizeH="0" baseline="0" dirty="0" smtClean="0">
                <a:ln>
                  <a:noFill/>
                </a:ln>
                <a:solidFill>
                  <a:schemeClr val="tx1"/>
                </a:solidFill>
                <a:effectLst/>
                <a:latin typeface="Arial" panose="020B0604020202020204" pitchFamily="34" charset="0"/>
                <a:hlinkClick r:id="rId2"/>
              </a:rPr>
              <a:t>https://www.python.org</a:t>
            </a:r>
            <a:r>
              <a:rPr kumimoji="0" lang="en-US" altLang="en-US" sz="2000" b="0" i="0" u="none" strike="noStrike" cap="none" normalizeH="0" baseline="0" dirty="0" smtClean="0">
                <a:ln>
                  <a:noFill/>
                </a:ln>
                <a:solidFill>
                  <a:schemeClr val="tx1"/>
                </a:solidFill>
                <a:effectLst/>
                <a:latin typeface="Arial" panose="020B0604020202020204" pitchFamily="34" charset="0"/>
              </a:rPr>
              <a:t> </a:t>
            </a:r>
          </a:p>
          <a:p>
            <a:pPr marR="0" lvl="0" algn="l" defTabSz="914400" rtl="0" eaLnBrk="0" fontAlgn="base" latinLnBrk="0" hangingPunct="0">
              <a:lnSpc>
                <a:spcPct val="100000"/>
              </a:lnSpc>
              <a:spcBef>
                <a:spcPts val="480"/>
              </a:spcBef>
              <a:spcAft>
                <a:spcPct val="0"/>
              </a:spcAft>
              <a:buSzTx/>
              <a:buFont typeface="Wingdings" panose="05000000000000000000" pitchFamily="2" charset="2"/>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Streamlit Documentation. </a:t>
            </a:r>
            <a:r>
              <a:rPr kumimoji="0" lang="en-US" altLang="en-US" sz="2000" b="0" i="1" u="none" strike="noStrike" cap="none" normalizeH="0" baseline="0" dirty="0" smtClean="0">
                <a:ln>
                  <a:noFill/>
                </a:ln>
                <a:solidFill>
                  <a:schemeClr val="tx1"/>
                </a:solidFill>
                <a:effectLst/>
                <a:latin typeface="Arial" panose="020B0604020202020204" pitchFamily="34" charset="0"/>
              </a:rPr>
              <a:t>Streamlit Web Application Framework</a:t>
            </a:r>
            <a:r>
              <a:rPr kumimoji="0" lang="en-US" altLang="en-US" sz="2000" b="0" i="0" u="none" strike="noStrike" cap="none" normalizeH="0" baseline="0" dirty="0" smtClean="0">
                <a:ln>
                  <a:noFill/>
                </a:ln>
                <a:solidFill>
                  <a:schemeClr val="tx1"/>
                </a:solidFill>
                <a:effectLst/>
                <a:latin typeface="Arial" panose="020B0604020202020204" pitchFamily="34" charset="0"/>
              </a:rPr>
              <a:t>. Available at: </a:t>
            </a:r>
            <a:r>
              <a:rPr kumimoji="0" lang="en-US" altLang="en-US" sz="2000" b="0" i="0" u="none" strike="noStrike" cap="none" normalizeH="0" baseline="0" dirty="0" smtClean="0">
                <a:ln>
                  <a:noFill/>
                </a:ln>
                <a:solidFill>
                  <a:schemeClr val="tx1"/>
                </a:solidFill>
                <a:effectLst/>
                <a:latin typeface="Arial" panose="020B0604020202020204" pitchFamily="34" charset="0"/>
                <a:hlinkClick r:id="rId3"/>
              </a:rPr>
              <a:t>https://streamlit.io</a:t>
            </a:r>
            <a:r>
              <a:rPr kumimoji="0" lang="en-US" altLang="en-US" sz="2000" b="0" i="0" u="none" strike="noStrike" cap="none" normalizeH="0" baseline="0" dirty="0" smtClean="0">
                <a:ln>
                  <a:noFill/>
                </a:ln>
                <a:solidFill>
                  <a:schemeClr val="tx1"/>
                </a:solidFill>
                <a:effectLst/>
                <a:latin typeface="Arial" panose="020B0604020202020204" pitchFamily="34" charset="0"/>
              </a:rPr>
              <a:t> </a:t>
            </a:r>
          </a:p>
          <a:p>
            <a:pPr marR="0" lvl="0" algn="l" defTabSz="914400" rtl="0" eaLnBrk="0" fontAlgn="base" latinLnBrk="0" hangingPunct="0">
              <a:lnSpc>
                <a:spcPct val="100000"/>
              </a:lnSpc>
              <a:spcBef>
                <a:spcPts val="480"/>
              </a:spcBef>
              <a:spcAft>
                <a:spcPct val="0"/>
              </a:spcAft>
              <a:buSzTx/>
              <a:buFont typeface="Wingdings" panose="05000000000000000000" pitchFamily="2" charset="2"/>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SQLite Documentation. </a:t>
            </a:r>
            <a:r>
              <a:rPr kumimoji="0" lang="en-US" altLang="en-US" sz="2000" b="0" i="1" u="none" strike="noStrike" cap="none" normalizeH="0" baseline="0" dirty="0" smtClean="0">
                <a:ln>
                  <a:noFill/>
                </a:ln>
                <a:solidFill>
                  <a:schemeClr val="tx1"/>
                </a:solidFill>
                <a:effectLst/>
                <a:latin typeface="Arial" panose="020B0604020202020204" pitchFamily="34" charset="0"/>
              </a:rPr>
              <a:t>SQLite Database Engine</a:t>
            </a:r>
            <a:r>
              <a:rPr kumimoji="0" lang="en-US" altLang="en-US" sz="2000" b="0" i="0" u="none" strike="noStrike" cap="none" normalizeH="0" baseline="0" dirty="0" smtClean="0">
                <a:ln>
                  <a:noFill/>
                </a:ln>
                <a:solidFill>
                  <a:schemeClr val="tx1"/>
                </a:solidFill>
                <a:effectLst/>
                <a:latin typeface="Arial" panose="020B0604020202020204" pitchFamily="34" charset="0"/>
              </a:rPr>
              <a:t>. Available at: </a:t>
            </a:r>
            <a:r>
              <a:rPr kumimoji="0" lang="en-US" altLang="en-US" sz="2000" b="0" i="0" u="none" strike="noStrike" cap="none" normalizeH="0" baseline="0" dirty="0" smtClean="0">
                <a:ln>
                  <a:noFill/>
                </a:ln>
                <a:solidFill>
                  <a:schemeClr val="tx1"/>
                </a:solidFill>
                <a:effectLst/>
                <a:latin typeface="Arial" panose="020B0604020202020204" pitchFamily="34" charset="0"/>
                <a:hlinkClick r:id="rId4"/>
              </a:rPr>
              <a:t>https://www.sqlite.org</a:t>
            </a:r>
            <a:r>
              <a:rPr kumimoji="0" lang="en-US" altLang="en-US" sz="2000" b="0" i="0" u="none" strike="noStrike" cap="none" normalizeH="0" baseline="0" dirty="0" smtClean="0">
                <a:ln>
                  <a:noFill/>
                </a:ln>
                <a:solidFill>
                  <a:schemeClr val="tx1"/>
                </a:solidFill>
                <a:effectLst/>
                <a:latin typeface="Arial" panose="020B0604020202020204" pitchFamily="34" charset="0"/>
              </a:rPr>
              <a:t> </a:t>
            </a:r>
          </a:p>
          <a:p>
            <a:pPr marR="0" lvl="0" algn="l" defTabSz="914400" rtl="0" eaLnBrk="0" fontAlgn="base" latinLnBrk="0" hangingPunct="0">
              <a:lnSpc>
                <a:spcPct val="100000"/>
              </a:lnSpc>
              <a:spcBef>
                <a:spcPts val="480"/>
              </a:spcBef>
              <a:spcAft>
                <a:spcPct val="0"/>
              </a:spcAft>
              <a:buSzTx/>
              <a:buFont typeface="Wingdings" panose="05000000000000000000" pitchFamily="2" charset="2"/>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McKinney, W. </a:t>
            </a:r>
            <a:r>
              <a:rPr kumimoji="0" lang="en-US" altLang="en-US" sz="2000" b="0" i="1" u="none" strike="noStrike" cap="none" normalizeH="0" baseline="0" dirty="0" smtClean="0">
                <a:ln>
                  <a:noFill/>
                </a:ln>
                <a:solidFill>
                  <a:schemeClr val="tx1"/>
                </a:solidFill>
                <a:effectLst/>
                <a:latin typeface="Arial" panose="020B0604020202020204" pitchFamily="34" charset="0"/>
              </a:rPr>
              <a:t>Python for Data Analysis</a:t>
            </a:r>
            <a:r>
              <a:rPr kumimoji="0" lang="en-US" altLang="en-US" sz="2000" b="0" i="0" u="none" strike="noStrike" cap="none" normalizeH="0" baseline="0" dirty="0" smtClean="0">
                <a:ln>
                  <a:noFill/>
                </a:ln>
                <a:solidFill>
                  <a:schemeClr val="tx1"/>
                </a:solidFill>
                <a:effectLst/>
                <a:latin typeface="Arial" panose="020B0604020202020204" pitchFamily="34" charset="0"/>
              </a:rPr>
              <a:t>. O'Reilly Media. </a:t>
            </a:r>
          </a:p>
          <a:p>
            <a:pPr marR="0" lvl="0" algn="l" defTabSz="914400" rtl="0" eaLnBrk="0" fontAlgn="base" latinLnBrk="0" hangingPunct="0">
              <a:lnSpc>
                <a:spcPct val="100000"/>
              </a:lnSpc>
              <a:spcBef>
                <a:spcPts val="480"/>
              </a:spcBef>
              <a:spcAft>
                <a:spcPct val="0"/>
              </a:spcAft>
              <a:buSzTx/>
              <a:buFont typeface="Wingdings" panose="05000000000000000000" pitchFamily="2" charset="2"/>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WHO (World Health Organization). </a:t>
            </a:r>
            <a:r>
              <a:rPr kumimoji="0" lang="en-US" altLang="en-US" sz="2000" b="0" i="1" u="none" strike="noStrike" cap="none" normalizeH="0" baseline="0" dirty="0" smtClean="0">
                <a:ln>
                  <a:noFill/>
                </a:ln>
                <a:solidFill>
                  <a:schemeClr val="tx1"/>
                </a:solidFill>
                <a:effectLst/>
                <a:latin typeface="Arial" panose="020B0604020202020204" pitchFamily="34" charset="0"/>
              </a:rPr>
              <a:t>Blood Safety and Availability</a:t>
            </a:r>
            <a:r>
              <a:rPr kumimoji="0" lang="en-US" altLang="en-US" sz="2000" b="0" i="0" u="none" strike="noStrike" cap="none" normalizeH="0" baseline="0" dirty="0" smtClean="0">
                <a:ln>
                  <a:noFill/>
                </a:ln>
                <a:solidFill>
                  <a:schemeClr val="tx1"/>
                </a:solidFill>
                <a:effectLst/>
                <a:latin typeface="Arial" panose="020B0604020202020204" pitchFamily="34" charset="0"/>
              </a:rPr>
              <a:t>.</a:t>
            </a:r>
            <a:r>
              <a:rPr kumimoji="0" lang="en-US" altLang="en-US" sz="2000" b="0" i="0" u="none" strike="noStrike" cap="none" normalizeH="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panose="020B0604020202020204" pitchFamily="34" charset="0"/>
              </a:rPr>
              <a:t>Available at: </a:t>
            </a:r>
            <a:r>
              <a:rPr kumimoji="0" lang="en-US" altLang="en-US" sz="2000" b="0" i="0" u="none" strike="noStrike" cap="none" normalizeH="0" baseline="0" dirty="0" smtClean="0">
                <a:ln>
                  <a:noFill/>
                </a:ln>
                <a:solidFill>
                  <a:schemeClr val="tx1"/>
                </a:solidFill>
                <a:effectLst/>
                <a:latin typeface="Arial" panose="020B0604020202020204" pitchFamily="34" charset="0"/>
                <a:hlinkClick r:id="rId5"/>
              </a:rPr>
              <a:t>https://www.who.int</a:t>
            </a:r>
            <a:r>
              <a:rPr kumimoji="0" lang="en-US" altLang="en-US" sz="2000" b="0" i="0" u="none" strike="noStrike" cap="none" normalizeH="0" baseline="0" dirty="0" smtClean="0">
                <a:ln>
                  <a:noFill/>
                </a:ln>
                <a:solidFill>
                  <a:schemeClr val="tx1"/>
                </a:solidFill>
                <a:effectLst/>
                <a:latin typeface="Arial" panose="020B0604020202020204" pitchFamily="34" charset="0"/>
              </a:rPr>
              <a:t> </a:t>
            </a:r>
          </a:p>
          <a:p>
            <a:pPr marR="0" lvl="0" algn="l" defTabSz="914400" rtl="0" eaLnBrk="0" fontAlgn="base" latinLnBrk="0" hangingPunct="0">
              <a:lnSpc>
                <a:spcPct val="100000"/>
              </a:lnSpc>
              <a:spcBef>
                <a:spcPts val="480"/>
              </a:spcBef>
              <a:spcAft>
                <a:spcPct val="0"/>
              </a:spcAft>
              <a:buSzTx/>
              <a:buFont typeface="Wingdings" panose="05000000000000000000" pitchFamily="2" charset="2"/>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National Organ and Tissue Transplant Organization (NOTTO), Government of India. </a:t>
            </a:r>
          </a:p>
          <a:p>
            <a:pPr marL="0" lvl="0" indent="0" defTabSz="914400" eaLnBrk="0" fontAlgn="base" hangingPunct="0">
              <a:lnSpc>
                <a:spcPct val="100000"/>
              </a:lnSpc>
              <a:spcBef>
                <a:spcPts val="480"/>
              </a:spcBef>
              <a:spcAft>
                <a:spcPct val="0"/>
              </a:spcAft>
              <a:buSzTx/>
              <a:buNone/>
            </a:pPr>
            <a:r>
              <a:rPr lang="en-US" altLang="en-US" sz="2000" dirty="0" smtClean="0">
                <a:solidFill>
                  <a:schemeClr val="tx1"/>
                </a:solidFill>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panose="020B0604020202020204" pitchFamily="34" charset="0"/>
              </a:rPr>
              <a:t>Available</a:t>
            </a:r>
            <a:r>
              <a:rPr kumimoji="0" lang="en-US" altLang="en-US" sz="2000" b="0" i="0" u="none" strike="noStrike" cap="none" normalizeH="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panose="020B0604020202020204" pitchFamily="34" charset="0"/>
              </a:rPr>
              <a:t>at</a:t>
            </a:r>
            <a:r>
              <a:rPr lang="en-US" altLang="en-US" sz="2000" dirty="0">
                <a:solidFill>
                  <a:schemeClr val="tx1"/>
                </a:solidFill>
                <a:latin typeface="Arial" panose="020B0604020202020204" pitchFamily="34" charset="0"/>
              </a:rPr>
              <a:t>: </a:t>
            </a:r>
            <a:r>
              <a:rPr lang="en-US" altLang="en-US" sz="2000" dirty="0">
                <a:solidFill>
                  <a:schemeClr val="tx1"/>
                </a:solidFill>
                <a:latin typeface="Arial" panose="020B0604020202020204" pitchFamily="34" charset="0"/>
                <a:hlinkClick r:id="rId6"/>
              </a:rPr>
              <a:t>https://www.notto.gov.in</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ts val="480"/>
              </a:spcBef>
              <a:spcAft>
                <a:spcPct val="0"/>
              </a:spcAft>
              <a:buSzTx/>
              <a:buFont typeface="Wingdings" panose="05000000000000000000" pitchFamily="2" charset="2"/>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Blood &amp; Organ Donation Matcher – Real-Time Digital Platform Case Study. </a:t>
            </a:r>
          </a:p>
          <a:p>
            <a:pPr marR="0" lvl="0" algn="l" defTabSz="914400" rtl="0" eaLnBrk="0" fontAlgn="base" latinLnBrk="0" hangingPunct="0">
              <a:lnSpc>
                <a:spcPct val="100000"/>
              </a:lnSpc>
              <a:spcBef>
                <a:spcPts val="480"/>
              </a:spcBef>
              <a:spcAft>
                <a:spcPct val="0"/>
              </a:spcAft>
              <a:buSzTx/>
              <a:buFont typeface="Wingdings" panose="05000000000000000000" pitchFamily="2" charset="2"/>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Blood Donor–Recipient Matching System Report. </a:t>
            </a:r>
          </a:p>
          <a:p>
            <a:pPr marR="0" lvl="0" algn="l" defTabSz="914400" rtl="0" eaLnBrk="0" fontAlgn="base" latinLnBrk="0" hangingPunct="0">
              <a:lnSpc>
                <a:spcPct val="100000"/>
              </a:lnSpc>
              <a:spcBef>
                <a:spcPts val="480"/>
              </a:spcBef>
              <a:spcAft>
                <a:spcPct val="0"/>
              </a:spcAft>
              <a:buSzTx/>
              <a:buFont typeface="Wingdings" panose="05000000000000000000" pitchFamily="2" charset="2"/>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Organ Donation Matching System Research Studies</a:t>
            </a:r>
            <a:r>
              <a:rPr kumimoji="0" lang="en-US" altLang="en-US" sz="2000" b="0" i="0" u="none" strike="noStrike" cap="none" normalizeH="0" baseline="0" dirty="0" smtClean="0">
                <a:ln>
                  <a:noFill/>
                </a:ln>
                <a:solidFill>
                  <a:schemeClr val="accent2"/>
                </a:solidFill>
                <a:effectLst/>
                <a:latin typeface="Arial" panose="020B0604020202020204" pitchFamily="34" charset="0"/>
              </a:rPr>
              <a:t>. </a:t>
            </a:r>
          </a:p>
        </p:txBody>
      </p:sp>
    </p:spTree>
    <p:extLst>
      <p:ext uri="{BB962C8B-B14F-4D97-AF65-F5344CB8AC3E}">
        <p14:creationId xmlns:p14="http://schemas.microsoft.com/office/powerpoint/2010/main" val="7289502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4D7422-ED9D-D856-C6AD-0F1A715C2428}"/>
              </a:ext>
            </a:extLst>
          </p:cNvPr>
          <p:cNvSpPr>
            <a:spLocks noGrp="1"/>
          </p:cNvSpPr>
          <p:nvPr>
            <p:ph type="title"/>
          </p:nvPr>
        </p:nvSpPr>
        <p:spPr>
          <a:xfrm>
            <a:off x="427188" y="858358"/>
            <a:ext cx="11029616" cy="530296"/>
          </a:xfrm>
        </p:spPr>
        <p:txBody>
          <a:bodyPr>
            <a:noAutofit/>
          </a:bodyPr>
          <a:lstStyle/>
          <a:p>
            <a:r>
              <a:rPr lang="en-IN" sz="4000" b="1" dirty="0">
                <a:solidFill>
                  <a:schemeClr val="accent1"/>
                </a:solidFill>
                <a:latin typeface="Arial" panose="020B0604020202020204" pitchFamily="34" charset="0"/>
                <a:cs typeface="Arial" panose="020B0604020202020204" pitchFamily="34" charset="0"/>
              </a:rPr>
              <a:t>Deployment link / github link</a:t>
            </a:r>
          </a:p>
        </p:txBody>
      </p:sp>
      <p:sp>
        <p:nvSpPr>
          <p:cNvPr id="3" name="Content Placeholder 2">
            <a:extLst>
              <a:ext uri="{FF2B5EF4-FFF2-40B4-BE49-F238E27FC236}">
                <a16:creationId xmlns="" xmlns:a16="http://schemas.microsoft.com/office/drawing/2014/main" id="{618C47C2-EF01-12B0-99EA-861F9629D1D9}"/>
              </a:ext>
            </a:extLst>
          </p:cNvPr>
          <p:cNvSpPr>
            <a:spLocks noGrp="1"/>
          </p:cNvSpPr>
          <p:nvPr>
            <p:ph idx="1"/>
          </p:nvPr>
        </p:nvSpPr>
        <p:spPr>
          <a:xfrm>
            <a:off x="581192" y="1302026"/>
            <a:ext cx="11029615" cy="1874311"/>
          </a:xfrm>
        </p:spPr>
        <p:txBody>
          <a:bodyPr>
            <a:normAutofit/>
          </a:bodyPr>
          <a:lstStyle/>
          <a:p>
            <a:pPr marL="305435" indent="-305435"/>
            <a:r>
              <a:rPr lang="en-IN" sz="2000" b="1" dirty="0">
                <a:latin typeface="Arial" panose="020B0604020202020204" pitchFamily="34" charset="0"/>
                <a:cs typeface="Arial" panose="020B0604020202020204" pitchFamily="34" charset="0"/>
              </a:rPr>
              <a:t>Github </a:t>
            </a:r>
            <a:r>
              <a:rPr lang="en-IN" sz="2000" b="1" dirty="0" smtClean="0">
                <a:latin typeface="Arial" panose="020B0604020202020204" pitchFamily="34" charset="0"/>
                <a:cs typeface="Arial" panose="020B0604020202020204" pitchFamily="34" charset="0"/>
              </a:rPr>
              <a:t>Link : </a:t>
            </a:r>
            <a:r>
              <a:rPr lang="en-IN" sz="2000" u="sng" dirty="0">
                <a:latin typeface="Arial" panose="020B0604020202020204" pitchFamily="34" charset="0"/>
                <a:cs typeface="Arial" panose="020B0604020202020204" pitchFamily="34" charset="0"/>
                <a:hlinkClick r:id="rId2"/>
              </a:rPr>
              <a:t>https://github.com/meetukhurana07-bot/MediMatch_.git</a:t>
            </a:r>
            <a:endParaRPr lang="en-IN" sz="2000" b="1" dirty="0">
              <a:latin typeface="Arial" panose="020B0604020202020204" pitchFamily="34" charset="0"/>
              <a:cs typeface="Arial" panose="020B0604020202020204" pitchFamily="34" charset="0"/>
            </a:endParaRPr>
          </a:p>
          <a:p>
            <a:pPr marL="305435" indent="-305435"/>
            <a:r>
              <a:rPr lang="en-IN" sz="2000" b="1" dirty="0" smtClean="0">
                <a:latin typeface="Arial" panose="020B0604020202020204" pitchFamily="34" charset="0"/>
                <a:cs typeface="Arial" panose="020B0604020202020204" pitchFamily="34" charset="0"/>
              </a:rPr>
              <a:t>Streamlit Link : </a:t>
            </a:r>
            <a:r>
              <a:rPr lang="en-IN" sz="2000" u="sng" dirty="0">
                <a:latin typeface="Arial" panose="020B0604020202020204" pitchFamily="34" charset="0"/>
                <a:cs typeface="Arial" panose="020B0604020202020204" pitchFamily="34" charset="0"/>
                <a:hlinkClick r:id="rId3"/>
              </a:rPr>
              <a:t>https://medimatchgit-im64hbmmpshfcrfxo9u3ws.streamlit.app/</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8529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BE4CA82-64EC-4D4E-A5E5-3EBB66E7B24C}"/>
              </a:ext>
            </a:extLst>
          </p:cNvPr>
          <p:cNvSpPr>
            <a:spLocks noGrp="1"/>
          </p:cNvSpPr>
          <p:nvPr>
            <p:ph type="title"/>
          </p:nvPr>
        </p:nvSpPr>
        <p:spPr>
          <a:xfrm>
            <a:off x="1241660" y="2429334"/>
            <a:ext cx="9298744" cy="1325563"/>
          </a:xfrm>
        </p:spPr>
        <p:txBody>
          <a:bodyPr>
            <a:normAutofit/>
          </a:bodyPr>
          <a:lstStyle/>
          <a:p>
            <a:pPr algn="ctr"/>
            <a:r>
              <a:rPr lang="en-US" sz="4800" b="1" dirty="0">
                <a:solidFill>
                  <a:schemeClr val="accent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timing>
    <p:tnLst>
      <p:par>
        <p:cTn id="1" dur="indefinite" restart="never" nodeType="tmRoot"/>
      </p:par>
    </p:tnLst>
  </p:timing>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http://schemas.microsoft.com/office/2006/documentManagement/types"/>
    <ds:schemaRef ds:uri="9162bd5b-4ed9-4da3-b376-05204580ba3f"/>
    <ds:schemaRef ds:uri="http://www.w3.org/XML/1998/namespace"/>
    <ds:schemaRef ds:uri="c0fa2617-96bd-425d-8578-e93563fe37c5"/>
    <ds:schemaRef ds:uri="http://purl.org/dc/terms/"/>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505</TotalTime>
  <Words>928</Words>
  <Application>Microsoft Office PowerPoint</Application>
  <PresentationFormat>Widescreen</PresentationFormat>
  <Paragraphs>145</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Franklin Gothic Book</vt:lpstr>
      <vt:lpstr>Franklin Gothic Demi</vt:lpstr>
      <vt:lpstr>Wingdings</vt:lpstr>
      <vt:lpstr>Wingdings 2</vt:lpstr>
      <vt:lpstr>DividendVTI</vt:lpstr>
      <vt:lpstr>Medimatch: AI-Assisted Donor-Recipient Compatibility and Matching Portal</vt:lpstr>
      <vt:lpstr>OUTLINE</vt:lpstr>
      <vt:lpstr>Problem Statement</vt:lpstr>
      <vt:lpstr>Proposed Solution</vt:lpstr>
      <vt:lpstr>System Approach</vt:lpstr>
      <vt:lpstr>PowerPoint Presentation</vt:lpstr>
      <vt:lpstr>Algorithm &amp; Deployment</vt:lpstr>
      <vt:lpstr>PowerPoint Presentation</vt:lpstr>
      <vt:lpstr>Result</vt:lpstr>
      <vt:lpstr>Result</vt:lpstr>
      <vt:lpstr>Result</vt:lpstr>
      <vt:lpstr>Result</vt:lpstr>
      <vt:lpstr>Result</vt:lpstr>
      <vt:lpstr>Result</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hp</cp:lastModifiedBy>
  <cp:revision>32</cp:revision>
  <dcterms:created xsi:type="dcterms:W3CDTF">2021-05-26T16:50:10Z</dcterms:created>
  <dcterms:modified xsi:type="dcterms:W3CDTF">2026-09-28T11:51:42Z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